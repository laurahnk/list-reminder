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1295C">
              <a:alpha val="70000"/>
            </a:srgbClr>
          </a:solidFill>
          <a:ln w="12700">
            <a:solidFill>
              <a:srgbClr val="21295C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0"/>
            <a:ext cx="137160" cy="1463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Synthétiques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Scoring Crédit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7889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d'un pipeline de génération et d'évaluation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risque de crédit bancaire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7033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d'avancement — Stage 2025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0" y="1005840"/>
            <a:ext cx="2286000" cy="2286000"/>
          </a:xfrm>
          <a:prstGeom prst="oval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1280160"/>
            <a:ext cx="1737360" cy="1737360"/>
          </a:xfrm>
          <a:prstGeom prst="oval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600200"/>
            <a:ext cx="1097280" cy="1097280"/>
          </a:xfrm>
          <a:prstGeom prst="oval">
            <a:avLst/>
          </a:prstGeom>
          <a:solidFill>
            <a:srgbClr val="3B82F6">
              <a:alpha val="5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Synthétiques &amp; Scoring Crédit — Stage 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892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22960"/>
            <a:ext cx="64008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2296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822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15214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Enjeux du risque de crédit et données sensibles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591056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591056"/>
            <a:ext cx="64008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59105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159105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Objectifs du Projet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1920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cherchons à construire et démontrer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359152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359152"/>
            <a:ext cx="64008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35915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235915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1 — Génération Synthétique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26883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 · TVAE · Modèle Bayésien · Confidentialité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127248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127248"/>
            <a:ext cx="64008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12724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312724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2 &amp; 3 — Scoring &amp; Interprétabilité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34564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 — présentation complémentaire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895344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895344"/>
            <a:ext cx="64008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89534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389534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Chronologie &amp; Avancement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2245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des travaux et prochaines étapes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— Pourquoi ce projet 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risque de crédit à l'heure de la donnée synthétique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Synthétiques &amp; Scoring Crédit — Stage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5120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05840"/>
            <a:ext cx="64008" cy="3566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51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défi des données bancaires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de crédit sont sensibles et confidentielles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partager ou les tester en externe est très encadré (RGPD, IA Act…)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 freine la recherche, le prototypage et la collaboration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synthétiques offrent une alternative prometteuse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leur qualité et leur sécurité doivent être rigoureusement évaluées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1005840"/>
            <a:ext cx="3154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1005840"/>
            <a:ext cx="64008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104241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300K+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806440" y="1554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(Home Credit Kaggle)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2221992"/>
            <a:ext cx="3154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0" y="2221992"/>
            <a:ext cx="64008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225856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806440" y="27706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explicatives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3438144"/>
            <a:ext cx="3154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0" y="3438144"/>
            <a:ext cx="64008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34747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806440" y="398678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défaut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(cible déséquilibrée)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92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Synthétiques &amp; Scoring Crédit — Stage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21040" y="4892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centrale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914400"/>
            <a:ext cx="7863840" cy="2011680"/>
          </a:xfrm>
          <a:prstGeom prst="rect">
            <a:avLst/>
          </a:prstGeom>
          <a:solidFill>
            <a:srgbClr val="21295C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00584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Peut-on construire des données synthétiques suffisamment réalistes et sécurisées pour entraîner des modèles de scoring de crédit performants — tout en préservant la confidentialité des individus 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20040" y="3154680"/>
            <a:ext cx="2743200" cy="1463040"/>
          </a:xfrm>
          <a:prstGeom prst="rect">
            <a:avLst/>
          </a:prstGeom>
          <a:solidFill>
            <a:srgbClr val="21295C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35661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synthétiques préservent-elles la structure statistique réelle 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3154680"/>
            <a:ext cx="2743200" cy="1463040"/>
          </a:xfrm>
          <a:prstGeom prst="rect">
            <a:avLst/>
          </a:prstGeom>
          <a:solidFill>
            <a:srgbClr val="21295C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35661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appris sur synthétique reste-t-il pertinent sur du réel 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3154680"/>
            <a:ext cx="2743200" cy="1463040"/>
          </a:xfrm>
          <a:prstGeom prst="rect">
            <a:avLst/>
          </a:prstGeom>
          <a:solidFill>
            <a:srgbClr val="21295C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35661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individus originaux sont-ils protégés contre la réidentification ?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Objectifs du Projet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Synthétiques &amp; Scoring Crédit — Stage 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892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1170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78408"/>
            <a:ext cx="685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34440" y="10972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&amp; Sécuriser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14630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des données synthétiques réalistes à partir de réseaux de neurones génératifs et évaluer leur robustesse face aux risques de confidentialité.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258568"/>
            <a:ext cx="8503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58568"/>
            <a:ext cx="64008" cy="1170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76856"/>
            <a:ext cx="685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34440" y="239572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&amp; Évaluer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2761488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Entraîner des modèles de scoring de défaut sur données synthétiques et réelles, puis comparer leurs performances avec rigueur.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557016"/>
            <a:ext cx="8503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557016"/>
            <a:ext cx="64008" cy="1170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75304"/>
            <a:ext cx="685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234440" y="369417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&amp; Interpréter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4059936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scientifiquement les métriques de performance (AUC, Gini…) et relier les écarts observés aux caractéristiques des données générées.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Méthodologique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de la chaîne de traitement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Synthétiques &amp; Scoring Crédit — Stage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1417320" cy="2560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18872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300K obs.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74520" y="2286000"/>
            <a:ext cx="27432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48840" y="1097280"/>
            <a:ext cx="1417320" cy="2560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94560" y="118872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237744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66160" y="2286000"/>
            <a:ext cx="27432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1097280"/>
            <a:ext cx="1417320" cy="2560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86200" y="118872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Synthétique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86200" y="237744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 · TVAE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Bayésien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57800" y="2286000"/>
            <a:ext cx="27432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32120" y="1097280"/>
            <a:ext cx="1417320" cy="2560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77840" y="118872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77840" y="237744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Fidélité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49440" y="2286000"/>
            <a:ext cx="27432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0" y="1097280"/>
            <a:ext cx="1417320" cy="2560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69480" y="118872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69480" y="237744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TSTR · TRTS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/ Gini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38862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stage couvre principalement la phase de génération et d'évaluation (étapes 3 &amp; 4)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 — Conditional Tabular GAN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génératif adversarial adapté aux données tabulaires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Synthétiques &amp; Scoring Crédit — Stage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1828800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0515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1371600"/>
            <a:ext cx="64008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14630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synthétiques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880360" y="1051560"/>
            <a:ext cx="18288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80360" y="10515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Discriminateur 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371600"/>
            <a:ext cx="5943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4630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 / Faux ?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49240" y="1051560"/>
            <a:ext cx="1828800" cy="7772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49240" y="10515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1920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fort : Mode Sampling + Encodage conditionnel → gère les déséquilibres de classes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377440"/>
            <a:ext cx="4160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377440"/>
            <a:ext cx="64008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423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Avantages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2834640"/>
            <a:ext cx="3794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variables mixtes (numériques + catégorielles)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 aux distributions déséquilibrées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Préserve bien les corrélations entre variables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CTGAN/SDV mature et documentée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377440"/>
            <a:ext cx="4160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377440"/>
            <a:ext cx="64008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423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Inconvénients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2834640"/>
            <a:ext cx="3794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parfois instable (GAN mode collapse)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Hyperparamètres sensibles à ajuster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Coûteux en ressources sur 300K+ lignes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mémorisation de données réelles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TVAE — Tabular Variational Autoencoder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génératif probabiliste basé sur les autoencodeurs variationnels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Synthétiques &amp; Scoring Crédit — Stage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1463040" cy="7772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0515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83080" y="1417320"/>
            <a:ext cx="41148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4520" y="1051560"/>
            <a:ext cx="1463040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74520" y="10515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Encodeur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1417320"/>
            <a:ext cx="41148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051560"/>
            <a:ext cx="14630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29000" y="10515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z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1417320"/>
            <a:ext cx="41148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1051560"/>
            <a:ext cx="1463040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10515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Décodeur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1417320"/>
            <a:ext cx="41148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1051560"/>
            <a:ext cx="146304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10515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Synthétiques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1920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L'espace latent capture une représentation compressée et probabiliste des données → génération par échantillonnage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377440"/>
            <a:ext cx="4160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377440"/>
            <a:ext cx="64008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423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Avantages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2834640"/>
            <a:ext cx="3794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stable et reproductible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latent interprétable — utile pour l'analyse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capture des distributions marginales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sensible aux hyperparamètres que CTGAN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2377440"/>
            <a:ext cx="4160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377440"/>
            <a:ext cx="64008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423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Inconvénients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0600" y="2834640"/>
            <a:ext cx="3794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lisser les distributions (tendance vers la moyenne)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efficace sur les dépendances complexes non-linéaires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parfois moins diversifiée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 variables selon le déséquilibre de la cible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Bayésien — BayesianNetwork / CTAB-GAN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statistique classique pour la génération tabulaire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Synthétiques &amp; Scoring Crédit — Stage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0" y="1463040"/>
            <a:ext cx="2103120" cy="96012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49040" y="1188720"/>
            <a:ext cx="0" cy="123444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1463040"/>
            <a:ext cx="-2103120" cy="96012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2423160"/>
            <a:ext cx="0" cy="96012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1188720"/>
            <a:ext cx="0" cy="219456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1188720"/>
            <a:ext cx="1097280" cy="502920"/>
          </a:xfrm>
          <a:prstGeom prst="oval">
            <a:avLst/>
          </a:prstGeom>
          <a:solidFill>
            <a:srgbClr val="1E2761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11887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914400"/>
            <a:ext cx="1097280" cy="502920"/>
          </a:xfrm>
          <a:prstGeom prst="oval">
            <a:avLst/>
          </a:prstGeom>
          <a:solidFill>
            <a:srgbClr val="1E2761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9144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0" y="1188720"/>
            <a:ext cx="1097280" cy="502920"/>
          </a:xfrm>
          <a:prstGeom prst="oval">
            <a:avLst/>
          </a:prstGeom>
          <a:solidFill>
            <a:srgbClr val="1E2761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11887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2148840"/>
            <a:ext cx="1097280" cy="502920"/>
          </a:xfrm>
          <a:prstGeom prst="oval">
            <a:avLst/>
          </a:prstGeom>
          <a:solidFill>
            <a:srgbClr val="1E2761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21488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3108960"/>
            <a:ext cx="1097280" cy="502920"/>
          </a:xfrm>
          <a:prstGeom prst="oval">
            <a:avLst/>
          </a:prstGeom>
          <a:solidFill>
            <a:srgbClr val="1E2761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31089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3657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les dépendances conditionnelles entre variables sous forme de réseau de probabilités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74920" y="96012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74920" y="960120"/>
            <a:ext cx="64008" cy="3291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84648" y="10058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Avantages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84648" y="1417320"/>
            <a:ext cx="1737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Fondements probabilistes solides et interprétables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risque de mode collapse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claire des dépendances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 de benchmark rigoureux face aux DL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78040" y="96012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78040" y="960120"/>
            <a:ext cx="64008" cy="3291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87768" y="10058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Inconvénients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87768" y="1417320"/>
            <a:ext cx="1737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 difficilement à l'échelle (120+ variables)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des structures de dépendances simples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expressif pour les non-linéarités complexes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moins réalistes sur données très variées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3 Modèles Génératifs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synthétique des forces et limites dans notre contexte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Synthétiques &amp; Scoring Crédit — Stage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77240"/>
            <a:ext cx="256032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777240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777240"/>
            <a:ext cx="196596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98064" y="777240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777240"/>
            <a:ext cx="196596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4024" y="777240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777240"/>
            <a:ext cx="201168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9984" y="777240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Bayésien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1234440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" y="1234440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0" y="1234440"/>
            <a:ext cx="1965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98064" y="1234440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adversarial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234440"/>
            <a:ext cx="1965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4024" y="1234440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Autoencodeur variationnel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75120" y="123444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9984" y="1234440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Probabiliste / graphe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1691640"/>
            <a:ext cx="2560320" cy="438912"/>
          </a:xfrm>
          <a:prstGeom prst="rect">
            <a:avLst/>
          </a:prstGeom>
          <a:solidFill>
            <a:srgbClr val="EFF3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" y="1691640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 entraînement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0" y="1691640"/>
            <a:ext cx="1965960" cy="438912"/>
          </a:xfrm>
          <a:prstGeom prst="rect">
            <a:avLst/>
          </a:prstGeom>
          <a:solidFill>
            <a:srgbClr val="EFF3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98064" y="1691640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Instable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1691640"/>
            <a:ext cx="1965960" cy="438912"/>
          </a:xfrm>
          <a:prstGeom prst="rect">
            <a:avLst/>
          </a:prstGeom>
          <a:solidFill>
            <a:srgbClr val="EFF3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64024" y="1691640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Stable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75120" y="1691640"/>
            <a:ext cx="2011680" cy="438912"/>
          </a:xfrm>
          <a:prstGeom prst="rect">
            <a:avLst/>
          </a:prstGeom>
          <a:solidFill>
            <a:srgbClr val="EFF3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9984" y="1691640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Très stable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2880" y="2148840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7744" y="2148840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Dépendances complexes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0" y="2148840"/>
            <a:ext cx="1965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98064" y="2148840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✔✔ Très bon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2148840"/>
            <a:ext cx="1965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64024" y="2148840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0" y="214884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9984" y="2148840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Limité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82880" y="2606040"/>
            <a:ext cx="2560320" cy="438912"/>
          </a:xfrm>
          <a:prstGeom prst="rect">
            <a:avLst/>
          </a:prstGeom>
          <a:solidFill>
            <a:srgbClr val="EFF3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7744" y="2606040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marginales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43200" y="2606040"/>
            <a:ext cx="1965960" cy="438912"/>
          </a:xfrm>
          <a:prstGeom prst="rect">
            <a:avLst/>
          </a:prstGeom>
          <a:solidFill>
            <a:srgbClr val="EFF3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98064" y="2606040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2606040"/>
            <a:ext cx="1965960" cy="438912"/>
          </a:xfrm>
          <a:prstGeom prst="rect">
            <a:avLst/>
          </a:prstGeom>
          <a:solidFill>
            <a:srgbClr val="EFF3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64024" y="2606040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✔✔ Très bon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75120" y="2606040"/>
            <a:ext cx="2011680" cy="438912"/>
          </a:xfrm>
          <a:prstGeom prst="rect">
            <a:avLst/>
          </a:prstGeom>
          <a:solidFill>
            <a:srgbClr val="EFF3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29984" y="2606040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82880" y="3063240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7744" y="3063240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Déséquilibre classes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743200" y="3063240"/>
            <a:ext cx="1965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98064" y="3063240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Gère bien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09160" y="3063240"/>
            <a:ext cx="1965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64024" y="3063240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Variable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675120" y="306324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29984" y="3063240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Difficile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82880" y="3520440"/>
            <a:ext cx="2560320" cy="438912"/>
          </a:xfrm>
          <a:prstGeom prst="rect">
            <a:avLst/>
          </a:prstGeom>
          <a:solidFill>
            <a:srgbClr val="EFF3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7744" y="3520440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à l'échelle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743200" y="3520440"/>
            <a:ext cx="1965960" cy="438912"/>
          </a:xfrm>
          <a:prstGeom prst="rect">
            <a:avLst/>
          </a:prstGeom>
          <a:solidFill>
            <a:srgbClr val="EFF3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98064" y="3520440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Bon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709160" y="3520440"/>
            <a:ext cx="1965960" cy="438912"/>
          </a:xfrm>
          <a:prstGeom prst="rect">
            <a:avLst/>
          </a:prstGeom>
          <a:solidFill>
            <a:srgbClr val="EFF3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64024" y="3520440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Bon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675120" y="3520440"/>
            <a:ext cx="2011680" cy="438912"/>
          </a:xfrm>
          <a:prstGeom prst="rect">
            <a:avLst/>
          </a:prstGeom>
          <a:solidFill>
            <a:srgbClr val="EFF3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29984" y="3520440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Lent (120 var.)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82880" y="3977640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7744" y="3977640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confidentialité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743200" y="3977640"/>
            <a:ext cx="1965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98064" y="3977640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Mémorisation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709160" y="3977640"/>
            <a:ext cx="1965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64024" y="3977640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Mémorisation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675120" y="397764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29984" y="3977640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Plus faible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182880" y="4434840"/>
            <a:ext cx="2560320" cy="438912"/>
          </a:xfrm>
          <a:prstGeom prst="rect">
            <a:avLst/>
          </a:prstGeom>
          <a:solidFill>
            <a:srgbClr val="EFF3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37744" y="4434840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dans le projet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2743200" y="4434840"/>
            <a:ext cx="1965960" cy="438912"/>
          </a:xfrm>
          <a:prstGeom prst="rect">
            <a:avLst/>
          </a:prstGeom>
          <a:solidFill>
            <a:srgbClr val="EFF3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98064" y="4434840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principal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709160" y="4434840"/>
            <a:ext cx="1965960" cy="438912"/>
          </a:xfrm>
          <a:prstGeom prst="rect">
            <a:avLst/>
          </a:prstGeom>
          <a:solidFill>
            <a:srgbClr val="EFF3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64024" y="4434840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Comparateur DL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675120" y="4434840"/>
            <a:ext cx="2011680" cy="438912"/>
          </a:xfrm>
          <a:prstGeom prst="rect">
            <a:avLst/>
          </a:prstGeom>
          <a:solidFill>
            <a:srgbClr val="EFF3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729984" y="4434840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statistique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Confidentialité — Un Pilier Incontournable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des individus dans un contexte bancaire réglementé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Synthétiques &amp; Scoring Crédit — Stage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914400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Contexte réglementaire : RGPD · IA Act · Secret bancaire → toute donnée de crédit est une donnée personnelle sensible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719072"/>
            <a:ext cx="27889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719072"/>
            <a:ext cx="64008" cy="2880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6479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k-Anonymat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1945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individu est indiscernable d'au moins k−1 autres sur les quasi-identifiants (âge, sexe, revenus…). Limite le risque de réidentification directe.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" y="3611880"/>
            <a:ext cx="25146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576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 : trouver le bon k — trop petit = risque, trop grand = perte d'utilité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1719072"/>
            <a:ext cx="27889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719072"/>
            <a:ext cx="64008" cy="2880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76479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ℓ-Diversity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21945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du k-anonymat : au sein de chaque groupe, les valeurs sensibles doivent être suffisamment diversifiées. Protège contre les attaques par inférence.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55848" y="3611880"/>
            <a:ext cx="25146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36576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 : garantir la diversité de la cible (défaut / non-défaut) dans chaque groupe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72200" y="1719072"/>
            <a:ext cx="27889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1719072"/>
            <a:ext cx="64008" cy="2880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76479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21945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 mathématique formelle : l'ajout ou le retrait d'un individu ne change pas significativement la sortie du modèle. Niveau ε contrôle le bruit injecté.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81928" y="3611880"/>
            <a:ext cx="25146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6576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 : trouver l'équilibre ε — plus de bruit = plus de confidentialité = moins d'utilité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la Qualité des Données Synthétiques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l'on cherche à mesurer — au-delà de la ressemblance visuelle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Synthétiques &amp; Scoring Crédit — Stage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2788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914400"/>
            <a:ext cx="64008" cy="3657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960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Fidélité Statistique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" y="1444752"/>
            <a:ext cx="2514600" cy="36576"/>
          </a:xfrm>
          <a:prstGeom prst="rect">
            <a:avLst/>
          </a:prstGeom>
          <a:solidFill>
            <a:srgbClr val="3B82F6">
              <a:alpha val="5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554480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marginales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Corrélations entre variables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globale (PCA, t-SNE)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914400"/>
            <a:ext cx="2788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914400"/>
            <a:ext cx="64008" cy="3657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960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Utilité Prédictive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55848" y="1444752"/>
            <a:ext cx="2514600" cy="36576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554480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TSTR : Train Synth. → Test Réel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TRTS : Train Réel → Test Synth.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AUC/Gini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914400"/>
            <a:ext cx="2788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914400"/>
            <a:ext cx="64008" cy="3657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960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Confidentialité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81928" y="1444752"/>
            <a:ext cx="2514600" cy="36576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554480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aux plus proches voisins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réidentification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inference attack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L'objectif final : trouver le meilleur compromis   Utilité ↔ Fidélité ↔ Confidentialité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2 &amp; 3 — Scoring &amp; Interprétabilité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 — développées dans la présentation complémentaire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Synthétiques &amp; Scoring Crédit — Stage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960120"/>
            <a:ext cx="64008" cy="3657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058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" y="1005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de Crédit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178308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sur données réelles vs synthétiques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: AUC-ROC, Gini, KS-Statistic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Protocoles TSTR et TRTS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 des classements de risque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" y="4114800"/>
            <a:ext cx="3840480" cy="365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4114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À venir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96012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960120"/>
            <a:ext cx="64008" cy="3657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0058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440680" y="1005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Interprétabilité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00600" y="178308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scientifique des métriques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écarts réel vs synthétique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XPER et SHAP values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entre qualité synthétique et performance modèle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73168" y="4114800"/>
            <a:ext cx="384048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4114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À venir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Chronologie &amp; Avancement du Projet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Synthétiques &amp; Scoring Crédit — Stage 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892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8412480" cy="914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404872"/>
            <a:ext cx="411480" cy="411480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914400"/>
            <a:ext cx="1325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914400"/>
            <a:ext cx="64008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9144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S1–S3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18872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13258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2608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Fait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94560" y="2404872"/>
            <a:ext cx="411480" cy="411480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83080" y="914400"/>
            <a:ext cx="1325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783080" y="914400"/>
            <a:ext cx="64008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9144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S4–S6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0" y="118872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783080" y="2926080"/>
            <a:ext cx="13258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83080" y="292608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Fait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11880" y="2404872"/>
            <a:ext cx="411480" cy="411480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14400"/>
            <a:ext cx="1325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914400"/>
            <a:ext cx="64008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9144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S7–S8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46120" y="118872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Bayésien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0" y="2926080"/>
            <a:ext cx="13258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292608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Fait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2404872"/>
            <a:ext cx="411480" cy="411480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914400"/>
            <a:ext cx="1325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91440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9144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S9–S10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3440" y="118872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(DP, k-anon,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ℓ-div.)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17720" y="2926080"/>
            <a:ext cx="13258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292608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En cours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46520" y="2404872"/>
            <a:ext cx="411480" cy="411480"/>
          </a:xfrm>
          <a:prstGeom prst="oval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0" y="914400"/>
            <a:ext cx="1325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35040" y="914400"/>
            <a:ext cx="64008" cy="14173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0760" y="9144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S11–S12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80760" y="118872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Synthétique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035040" y="2926080"/>
            <a:ext cx="1325880" cy="38404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292608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À venir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863840" y="2404872"/>
            <a:ext cx="411480" cy="411480"/>
          </a:xfrm>
          <a:prstGeom prst="oval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52360" y="914400"/>
            <a:ext cx="1325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452360" y="914400"/>
            <a:ext cx="64008" cy="14173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0" y="9144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S13–S16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498080" y="118872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452360" y="2926080"/>
            <a:ext cx="1325880" cy="38404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52360" y="292608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À venir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" y="3566160"/>
            <a:ext cx="228600" cy="228600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" y="35387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Terminé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011680" y="3566160"/>
            <a:ext cx="228600" cy="228600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304288" y="35387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57600" y="3566160"/>
            <a:ext cx="228600" cy="228600"/>
          </a:xfrm>
          <a:prstGeom prst="oval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50208" y="35387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92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Synthétiques &amp; Scoring Crédit — Stage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21040" y="4892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1295C">
              <a:alpha val="60000"/>
            </a:srgbClr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65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6858000" cy="594360"/>
          </a:xfrm>
          <a:prstGeom prst="rect">
            <a:avLst/>
          </a:prstGeom>
          <a:solidFill>
            <a:srgbClr val="21295C">
              <a:alpha val="9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1440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 Un pipeline complet — de la donnée réelle à l'évaluation du modèle synthétique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627632"/>
            <a:ext cx="6858000" cy="594360"/>
          </a:xfrm>
          <a:prstGeom prst="rect">
            <a:avLst/>
          </a:prstGeom>
          <a:solidFill>
            <a:srgbClr val="21295C">
              <a:alpha val="9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27632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 3 modèles génératifs comparés sur des critères métier concrets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340864"/>
            <a:ext cx="6858000" cy="594360"/>
          </a:xfrm>
          <a:prstGeom prst="rect">
            <a:avLst/>
          </a:prstGeom>
          <a:solidFill>
            <a:srgbClr val="21295C">
              <a:alpha val="9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40864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 La confidentialité intégrée dès la conception — DP, k-anonymat, ℓ-diversity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54096"/>
            <a:ext cx="6858000" cy="594360"/>
          </a:xfrm>
          <a:prstGeom prst="rect">
            <a:avLst/>
          </a:prstGeom>
          <a:solidFill>
            <a:srgbClr val="21295C">
              <a:alpha val="9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54096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 Un cadre d'évaluation rigoureux : fidélité, utilité, sécurité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6858000" cy="594360"/>
          </a:xfrm>
          <a:prstGeom prst="rect">
            <a:avLst/>
          </a:prstGeom>
          <a:solidFill>
            <a:srgbClr val="21295C">
              <a:alpha val="9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67328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 Une méthodologie pensée pour être transposée sur de vraies données bancaires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5262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— Questions 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Données Synthétiques &amp; Scoring Crédit</dc:title>
  <dc:subject>PptxGenJS Presentation</dc:subject>
  <dc:creator>Stagiaire</dc:creator>
  <cp:lastModifiedBy>Stagiaire</cp:lastModifiedBy>
  <cp:revision>1</cp:revision>
  <dcterms:created xsi:type="dcterms:W3CDTF">2026-03-25T20:52:48Z</dcterms:created>
  <dcterms:modified xsi:type="dcterms:W3CDTF">2026-03-25T20:52:48Z</dcterms:modified>
</cp:coreProperties>
</file>