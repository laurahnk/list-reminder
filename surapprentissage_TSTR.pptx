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Courbes d'apprentissage — XGBoost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Entraînement</c:v>
                </c:pt>
              </c:strCache>
            </c:strRef>
          </c:tx>
          <c:spPr>
            <a:solidFill>
              <a:srgbClr val="E87722"/>
            </a:solidFill>
            <a:ln w="38100" cap="flat">
              <a:solidFill>
                <a:srgbClr val="E8772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7722"/>
              </a:solidFill>
              <a:ln w="9525" cap="flat">
                <a:solidFill>
                  <a:srgbClr val="E8772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150</c:v>
                  </c:pt>
                  <c:pt idx="5">
                    <c:v>200</c:v>
                  </c:pt>
                  <c:pt idx="6">
                    <c:v>250</c:v>
                  </c:pt>
                  <c:pt idx="7">
                    <c:v>300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0.72</c:v>
                </c:pt>
                <c:pt idx="1">
                  <c:v>0.81</c:v>
                </c:pt>
                <c:pt idx="2">
                  <c:v>0.87</c:v>
                </c:pt>
                <c:pt idx="3">
                  <c:v>0.91</c:v>
                </c:pt>
                <c:pt idx="4">
                  <c:v>0.93</c:v>
                </c:pt>
                <c:pt idx="5">
                  <c:v>0.94</c:v>
                </c:pt>
                <c:pt idx="6">
                  <c:v>0.95</c:v>
                </c:pt>
                <c:pt idx="7">
                  <c:v>0.96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AUC Test (réelle)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150</c:v>
                  </c:pt>
                  <c:pt idx="5">
                    <c:v>200</c:v>
                  </c:pt>
                  <c:pt idx="6">
                    <c:v>250</c:v>
                  </c:pt>
                  <c:pt idx="7">
                    <c:v>300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0.7</c:v>
                </c:pt>
                <c:pt idx="1">
                  <c:v>0.79</c:v>
                </c:pt>
                <c:pt idx="2">
                  <c:v>0.82</c:v>
                </c:pt>
                <c:pt idx="3">
                  <c:v>0.83</c:v>
                </c:pt>
                <c:pt idx="4">
                  <c:v>0.83</c:v>
                </c:pt>
                <c:pt idx="5">
                  <c:v>0.82</c:v>
                </c:pt>
                <c:pt idx="6">
                  <c:v>0.81</c:v>
                </c:pt>
                <c:pt idx="7">
                  <c:v>0.8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Nombre d'arbres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6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AUC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&amp; TSTR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8C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Vérification, Sources et Méthodologie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2926080" cy="3657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71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données synthétiques — Crédit Agricole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0" y="914400"/>
            <a:ext cx="1097280" cy="1097280"/>
          </a:xfrm>
          <a:prstGeom prst="ellipse">
            <a:avLst/>
          </a:prstGeom>
          <a:solidFill>
            <a:srgbClr val="028090">
              <a:alpha val="4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2194560"/>
            <a:ext cx="822960" cy="822960"/>
          </a:xfrm>
          <a:prstGeom prst="ellipse">
            <a:avLst/>
          </a:prstGeom>
          <a:solidFill>
            <a:srgbClr val="E87722">
              <a:alpha val="40000"/>
            </a:srgbClr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3474720"/>
            <a:ext cx="548640" cy="548640"/>
          </a:xfrm>
          <a:prstGeom prst="ellipse">
            <a:avLst/>
          </a:prstGeom>
          <a:solidFill>
            <a:srgbClr val="CADCFC">
              <a:alpha val="40000"/>
            </a:srgbClr>
          </a:solidFill>
          <a:ln w="2540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23544"/>
            <a:ext cx="329184" cy="32918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05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— Test de stabilité de l'arbre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42646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le surapprentissage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92938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XGBoost est particulièrement exposé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sources de l'écart de 12 points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935224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16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28803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— Comparaison Train/Test AUC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923544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905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8686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— Courbes d'apprentissage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426464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408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6636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3 — Cross-validation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1929384"/>
            <a:ext cx="329184" cy="32918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9110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6636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XPER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54880" y="2432304"/>
            <a:ext cx="329184" cy="32918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414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66360" y="2377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attend avec la nouvelle base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Correction — Test de stabilité de l'arbre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2103120"/>
          </a:xfrm>
          <a:prstGeom prst="rect">
            <a:avLst/>
          </a:prstGeom>
          <a:solidFill>
            <a:srgbClr val="FFF0F0"/>
          </a:solidFill>
          <a:ln w="2540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Ce que j'ai fait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stabilité en changeant
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0 à 19 sur le même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749040" cy="777240"/>
          </a:xfrm>
          <a:prstGeom prst="rect">
            <a:avLst/>
          </a:prstGeom>
          <a:solidFill>
            <a:srgbClr val="FEE8D6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65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UNE SEULE feature, l'arbre est déterministe. Le random_state ne joue aucun rôle — il n'y a pas de sélection aléatoire de variables. Le résultat est mathématiquement identique à chaque run.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023360" cy="2103120"/>
          </a:xfrm>
          <a:prstGeom prst="rect">
            <a:avLst/>
          </a:prstGeom>
          <a:solidFill>
            <a:srgbClr val="F0FFF4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qu'il fallait faire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la stabilité sur des
</a:t>
            </a:r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échantillons bootstrap</a:t>
            </a:r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base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(tirage avec remise, seed variable)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920240"/>
            <a:ext cx="3749040" cy="777240"/>
          </a:xfrm>
          <a:prstGeom prst="rect">
            <a:avLst/>
          </a:prstGeom>
          <a:solidFill>
            <a:srgbClr val="E0F7F4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9659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bootstrap teste si les coupures [24,34,42,48] sont robustes aux variations aléatoires des DONNÉES, pas du code. C'est le vrai test d'instabilité des arbres (Breiman, 1996).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154680"/>
            <a:ext cx="841248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les arbres sont instables en général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(1996) a montré qu'un léger changement dans les données peut changer complètement la structure d'un arbre. Avec plusieurs features, si deux variables ont le même gain de Gini, le random_state choisit laquelle utiliser. C'est pour ça que les Random Forests ont été inventés — ils moyennent des centaines d'arbres instables pour obtenir une prédiction stable. Avec UNE seule variable, ce problème disparaît.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Breiman (1996), Bagging Predictors — Machine Learning 24(2)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Qu'est-ce que le surapprentissage 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5303520" cy="1828800"/>
          </a:xfrm>
          <a:prstGeom prst="rect">
            <a:avLst/>
          </a:prstGeom>
          <a:solidFill>
            <a:srgbClr val="EEF3F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14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L'analogie de l'étudiant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50292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étudiant mémorise les réponses exactes des annales au lieu de comprendre les concepts.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les questions sont identiques → 20/20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 les questions changent légèrement → 0/20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n'a pas appris les règles générales.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mémorisé des données spécifiques.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868680"/>
            <a:ext cx="2834640" cy="182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35040" y="9144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mathématique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508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AUC_train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350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AUC_test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8412480" cy="15544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notre TSTR — les chiffres clés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37160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 entraîn.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train 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 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Réelle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0.8254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À mesurer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À mesurer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XGBoost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Synthétique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0.7032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À mesurer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À mesurer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Logistique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Réelle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</a:rPr>
                        <a:t>0.6309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≈ 0.635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E87722"/>
                          </a:solidFill>
                        </a:rPr>
                        <a:t>Faible (&lt;1pt)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Hastie, Tibshirani, Friedman (2009) — The Elements of Statistical Learning, Ch.7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Pourquoi XGBoost est particulièrement exposé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 boosting séquentiel d'arbres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914400"/>
          </a:xfrm>
          <a:prstGeom prst="roundRect">
            <a:avLst/>
          </a:prstGeom>
          <a:solidFill>
            <a:srgbClr val="028090">
              <a:alpha val="25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 les patterns principaux de la base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017520" y="1783080"/>
            <a:ext cx="27432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325880"/>
            <a:ext cx="2560320" cy="914400"/>
          </a:xfrm>
          <a:prstGeom prst="roundRect">
            <a:avLst/>
          </a:prstGeom>
          <a:solidFill>
            <a:srgbClr val="028090">
              <a:alpha val="25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les erreurs de l'Arbre 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852160" y="1783080"/>
            <a:ext cx="274320" cy="0"/>
          </a:xfrm>
          <a:prstGeom prst="line">
            <a:avLst/>
          </a:prstGeom>
          <a:noFill/>
          <a:ln w="254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325880"/>
            <a:ext cx="2560320" cy="914400"/>
          </a:xfrm>
          <a:prstGeom prst="roundRect">
            <a:avLst/>
          </a:prstGeom>
          <a:solidFill>
            <a:srgbClr val="E87722">
              <a:alpha val="25000"/>
            </a:srgbClr>
          </a:solidFill>
          <a:ln w="25400">
            <a:solidFill>
              <a:srgbClr val="E877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Arbre 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les erreurs accumulées... y compris le bruit !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8412480" cy="1188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468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règle créée par XGBoost (profondeur 5) 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788920"/>
            <a:ext cx="80467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EXT_SOURCE_2 &lt; 0.53  ET  YEARS_EMPLOYED &gt; 12  ET  CODE_GENDER = F  ET  AMT_CREDIT &lt; 300 000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Probabilité de défaut = 0.92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4023360" cy="1005840"/>
          </a:xfrm>
          <a:prstGeom prst="rect">
            <a:avLst/>
          </a:prstGeom>
          <a:solidFill>
            <a:srgbClr val="F0FF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— peu de risque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frontière linéaire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mémoriser des détails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Perte = 0.78 pts AUC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3749040"/>
            <a:ext cx="4023360" cy="1005840"/>
          </a:xfrm>
          <a:prstGeom prst="rect">
            <a:avLst/>
          </a:prstGeom>
          <a:solidFill>
            <a:srgbClr val="FFF0F0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94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— risque élevé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ultra-spécifiques (millions)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mémoriser le bruit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Perte = 12.22 pts AUC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Chen &amp; Guestrin (2016) — XGBoost: A Scalable Tree Boosting System, KDD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Les 3 sources de l'écart de 12 points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Réelle 0.8254  vs  AUC Synthétique 0.7032  =  Δ 12.2 points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1078992"/>
          </a:xfrm>
          <a:prstGeom prst="rect">
            <a:avLst/>
          </a:prstGeom>
          <a:solidFill>
            <a:srgbClr val="FFF3E0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36245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du XGBoost sur réel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71907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entraîné sur la base réelle a peut-être mémorisé des patterns spécifiques. Son AUC de test 0.8254 est potentiellement surestimée.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AUC_train_réel &gt;&gt; 0.8254, la référence est gonflée et l'écart de 12 pts est artificiel.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487168"/>
            <a:ext cx="8412480" cy="1078992"/>
          </a:xfrm>
          <a:prstGeom prst="rect">
            <a:avLst/>
          </a:prstGeom>
          <a:solidFill>
            <a:srgbClr val="E8F8F7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542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5511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CTGAN ne reproduit pas les interactions complexes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0779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exploite des interactions de 4-5 variables simultanément. CTGAN reproduit mal ces structures non-linéaires.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entraîné sur synthétique ne peut pas apprendre ces règles car elles n'existent pas correctement dans la base CTGAN.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675888"/>
            <a:ext cx="8412480" cy="1078992"/>
          </a:xfrm>
          <a:prstGeom prst="rect">
            <a:avLst/>
          </a:prstGeom>
          <a:solidFill>
            <a:srgbClr val="EEF3F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749040"/>
            <a:ext cx="502920" cy="5029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30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73989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de distribution résiduelles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096512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avec un bon CTGAN, certaines distributions sont légèrement décalées. Cela crée des règles différentes même pour des modèles simples.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la composante résiduelle — moins importante que les deux premières.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Décomposer ces 3 sources séparément = l'objectif des méthodes de vérification →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Méthode 1 — Comparaison AUC Train vs Test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vérification minimale obligatoire dans tout projet ML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fait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modèle : calculer l'AUC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 ses données d'entraînement (train)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 la base réelle en test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0972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lit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AUC_train − AUC_test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&lt; 3 pts → OK, pas d'overfitting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3-7 pts → overfitting modéré
</a:t>
            </a:r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Gap &gt; 7 pts → overfitting sévère ⚠️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377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à mesurer — structure attendue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463040"/>
                <a:gridCol w="1188720"/>
                <a:gridCol w="1188720"/>
                <a:gridCol w="100584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Modèle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Base train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train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AUC test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Gap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Diagnostic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XGBoost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Réelle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?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0.8254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722"/>
                          </a:solidFill>
                        </a:rPr>
                        <a:t>?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Source 1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XGBoost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Synthétique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?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0.7032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722"/>
                          </a:solidFill>
                        </a:rPr>
                        <a:t>?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Source 1+2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Logistique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Réelle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≈0.635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0.6309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E87722"/>
                          </a:solidFill>
                        </a:rPr>
                        <a:t>~0.004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1A2E"/>
                          </a:solidFill>
                        </a:rPr>
                        <a:t>✅ Normal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EEF3FF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AUC_train_réel ≫ 0.8254 (ex: 0.94) → la référence de 0.8254 est surestimée. L'écart de 12 pts avec le synthétique est en partie artificiel. Pour corriger : appliquer l'early stopping pour trouver le nombre optimal d'arbres (Méthode 2).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Hastie, Tibshirani, Friedman (2009) — ESL, Ch.7 | James et al. (2013) — ISLR, Ch.5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Méthode 2 — Courbes d'apprentissage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04672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04672"/>
            <a:ext cx="3108960" cy="1371600"/>
          </a:xfrm>
          <a:prstGeom prst="rect">
            <a:avLst/>
          </a:prstGeom>
          <a:solidFill>
            <a:srgbClr val="FFF3E0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97880" y="85039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Scénario — surapprentissage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897880" y="1216152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monte continuellement.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 stabilise à ~100 arbres puis baisse.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modèle mémorise au-delà de 100 arbres.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760720" y="2286000"/>
            <a:ext cx="3108960" cy="1371600"/>
          </a:xfrm>
          <a:prstGeom prst="rect">
            <a:avLst/>
          </a:prstGeom>
          <a:solidFill>
            <a:srgbClr val="F0FF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23317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Scénario — bonne généralisation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97880" y="269748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et Test convergent ensemble.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convergence, train ≈ test.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Pas d'overfitting significatif.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74320" y="4114800"/>
            <a:ext cx="859536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corriger si overfitting détecté 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Early stopping : arrêter l'entraînement au nombre d'arbres optimal (là où AUC_test est max)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Réduire la profondeur max des arbres (max_depth)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Augmenter la régularisation (lambda, alpha dans XGBoost)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Chen &amp; Guestrin (2016) — XGBoost: A Scalable Tree Boosting System, KDD 2016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Méthode 3 — Cross-validation 5-fold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 évaluer 5 fois le modèle sur des partitions différentes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46304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38528" y="1234440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38528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11296" y="1234440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84064" y="1234440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4064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56832" y="1234440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56832" y="1234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0" y="1271016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fold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1764792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64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938528" y="1764792"/>
            <a:ext cx="146304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38528" y="1764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11296" y="1764792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1296" y="1764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84064" y="1764792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84064" y="1764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56832" y="1764792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7647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1801368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fold 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" y="2295144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295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38528" y="2295144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38528" y="2295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11296" y="2295144"/>
            <a:ext cx="146304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11296" y="2295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84064" y="2295144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84064" y="2295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56832" y="2295144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2295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23317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fold 3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65760" y="2825496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825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938528" y="2825496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38528" y="2825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511296" y="2825496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11296" y="2825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084064" y="2825496"/>
            <a:ext cx="146304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84064" y="2825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656832" y="2825496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56832" y="282549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286207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fold 4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355848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355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938528" y="3355848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8528" y="3355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511296" y="3355848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511296" y="3355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84064" y="3355848"/>
            <a:ext cx="1463040" cy="411480"/>
          </a:xfrm>
          <a:prstGeom prst="rect">
            <a:avLst/>
          </a:prstGeom>
          <a:solidFill>
            <a:srgbClr val="D0E8F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84064" y="3355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656832" y="3355848"/>
            <a:ext cx="1463040" cy="4114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56832" y="33558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229600" y="3392424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fold 5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36576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Résultat : AUC moyen ± écart-type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65760" y="4297680"/>
            <a:ext cx="3931920" cy="594360"/>
          </a:xfrm>
          <a:prstGeom prst="rect">
            <a:avLst/>
          </a:prstGeom>
          <a:solidFill>
            <a:srgbClr val="F0FF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" y="4343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0.823 ± 0.004  →  ✅ Stable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est robuste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754880" y="4297680"/>
            <a:ext cx="4023360" cy="594360"/>
          </a:xfrm>
          <a:prstGeom prst="rect">
            <a:avLst/>
          </a:prstGeom>
          <a:solidFill>
            <a:srgbClr val="FFF0F0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9204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0.823 ± 0.025  →  ⚠️ Instable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Surapprentissage probable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Kohavi (1995) — A study of cross-validation and bootstrap for accuracy estimation, IJCAI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Perspective XPER — diagnostic variable par variable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1143000"/>
          </a:xfrm>
          <a:prstGeom prst="rect">
            <a:avLst/>
          </a:prstGeom>
          <a:solidFill>
            <a:srgbClr val="EEF3FF"/>
          </a:solidFill>
          <a:ln w="1905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XPER fait que les autres méthodes ne font pas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8046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XPER décompose la performance (AUC ou Gini) variable par variable. Si la contribution d'une variable est très élevée en entraînement mais s'effondre en test → cette variable est la source du surapprentissage. Les méthodes 1-3 détectent l'overfitting global ; XPER le localise précisément sur la variable responsable.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F du papier XPER — deux signatures distinctes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4023360" cy="1463040"/>
          </a:xfrm>
          <a:prstGeom prst="rect">
            <a:avLst/>
          </a:prstGeom>
          <a:solidFill>
            <a:srgbClr val="FFF3E0"/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1 — Surapprentissage hyperparamètres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803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L'AUC baisse de train à test, MAIS les valeurs XPER de chaque variable restent stables entre train et test.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L'overfitting vient du modèle lui-même (trop d'arbres, trop profond), pas des variables.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2468880"/>
            <a:ext cx="4023360" cy="1463040"/>
          </a:xfrm>
          <a:prstGeom prst="rect">
            <a:avLst/>
          </a:prstGeom>
          <a:solidFill>
            <a:srgbClr val="E8F8F7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514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2 — Shift de distribution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880360"/>
            <a:ext cx="37490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L'AUC baisse ET les valeurs XPER d'une variable précise changent fortement entre train et test.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Cette variable a une distribution différente en test (ex: EXT_SOURCE). C'est elle qui cause l'écart.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69080"/>
            <a:ext cx="8412480" cy="6858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7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14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d'implémentation 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lue et maîtrisée. Implémentation en attente : les créateurs du package corrigent actuellement un bug connu. XPER sera intégré dès que le code est stable — il constitue l'analyse finale de validation.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Hué, Hurlin, Pérignon, Saurin (2023) — XPER, arXiv:2212.05866, Appendix F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Ce qu'on attend avec la nouvelle base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le co-stagiaire retire EXT_SOURCE_1/2/3 et révise les variables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FF3E0"/>
          </a:solidFill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25272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AUC réelle va baisser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27632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EXT_SOURCE_2 et _3 sont les variables les plus prédictives du dataset Home Credit. Elles apparaissent dans le top 3 de quasiment toutes les solutions. L'AUC passera probablement de 0.8254 à ~0.72-0.75.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2359152"/>
            <a:ext cx="8412480" cy="1051560"/>
          </a:xfrm>
          <a:prstGeom prst="rect">
            <a:avLst/>
          </a:prstGeom>
          <a:solidFill>
            <a:srgbClr val="E8F8F7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42316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L'écart avec le synthétique va se réduire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798064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sont des scores de bureaux de crédit avec des distributions complexes et des interactions difficiles à reproduire pour CTGAN. En les retirant, on enlève la principale source d'écart entre réelle et synthétique.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3529584"/>
            <a:ext cx="8412480" cy="1051560"/>
          </a:xfrm>
          <a:prstGeom prst="rect">
            <a:avLst/>
          </a:prstGeom>
          <a:solidFill>
            <a:srgbClr val="EEF3FF"/>
          </a:solidFill>
          <a:ln w="1905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59359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Le surapprentissage va probablement diminuer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EXT_SOURCE, le modèle crée des règles moins complexes. L'overfitting du XGBoost devrait se réduire — le gap train/test sera plus faible. Les 3 méthodes de vérification devront être relancées sur la nouvelle base.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le TSTR devra être entièrement relancé sur la nouvelle base — les résultats actuels ne seront plus valables.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Plan d'action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84048" cy="384048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24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0642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Corriger le test de stabilité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41732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sur les données, pas random_state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527048"/>
            <a:ext cx="0" cy="182880"/>
          </a:xfrm>
          <a:prstGeom prst="line">
            <a:avLst/>
          </a:prstGeom>
          <a:noFill/>
          <a:ln w="12700">
            <a:solidFill>
              <a:srgbClr val="E87722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548640" y="177393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Attendre la nouvelle base du co-stagiaire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04825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EXT_SOURCE retirées, variables révisées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157984"/>
            <a:ext cx="0" cy="182880"/>
          </a:xfrm>
          <a:prstGeom prst="line">
            <a:avLst/>
          </a:prstGeom>
          <a:noFill/>
          <a:ln w="12700">
            <a:solidFill>
              <a:srgbClr val="028090"/>
            </a:solidFill>
            <a:prstDash val="sysDash"/>
          </a:ln>
        </p:spPr>
      </p:sp>
      <p:sp>
        <p:nvSpPr>
          <p:cNvPr id="15" name="Shape 13"/>
          <p:cNvSpPr/>
          <p:nvPr/>
        </p:nvSpPr>
        <p:spPr>
          <a:xfrm>
            <a:off x="548640" y="2404872"/>
            <a:ext cx="384048" cy="384048"/>
          </a:xfrm>
          <a:prstGeom prst="ellipse">
            <a:avLst/>
          </a:prstGeom>
          <a:solidFill>
            <a:srgbClr val="A8CAFF"/>
          </a:solidFill>
          <a:ln w="12700">
            <a:solidFill>
              <a:srgbClr val="A8C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" y="2368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1 — Train/Test AUC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67919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le gap pour les 3 modèles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788920"/>
            <a:ext cx="0" cy="182880"/>
          </a:xfrm>
          <a:prstGeom prst="line">
            <a:avLst/>
          </a:prstGeom>
          <a:noFill/>
          <a:ln w="12700">
            <a:solidFill>
              <a:srgbClr val="A8CAFF"/>
            </a:solidFill>
            <a:prstDash val="sysDash"/>
          </a:ln>
        </p:spPr>
      </p:sp>
      <p:sp>
        <p:nvSpPr>
          <p:cNvPr id="20" name="Shape 18"/>
          <p:cNvSpPr/>
          <p:nvPr/>
        </p:nvSpPr>
        <p:spPr>
          <a:xfrm>
            <a:off x="548640" y="3035808"/>
            <a:ext cx="384048" cy="384048"/>
          </a:xfrm>
          <a:prstGeom prst="ellipse">
            <a:avLst/>
          </a:prstGeom>
          <a:solidFill>
            <a:srgbClr val="A8CAFF"/>
          </a:solidFill>
          <a:ln w="12700">
            <a:solidFill>
              <a:srgbClr val="A8C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99923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2 — Courbes d'apprentissage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31012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stopping, nombre optimal d'arbres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419856"/>
            <a:ext cx="0" cy="182880"/>
          </a:xfrm>
          <a:prstGeom prst="line">
            <a:avLst/>
          </a:prstGeom>
          <a:noFill/>
          <a:ln w="12700">
            <a:solidFill>
              <a:srgbClr val="A8CAFF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548640" y="3666744"/>
            <a:ext cx="384048" cy="384048"/>
          </a:xfrm>
          <a:prstGeom prst="ellipse">
            <a:avLst/>
          </a:prstGeom>
          <a:solidFill>
            <a:srgbClr val="A8CAFF"/>
          </a:solidFill>
          <a:ln w="12700">
            <a:solidFill>
              <a:srgbClr val="A8CA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6301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 3 — Cross-validation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941064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moyen ± écart-type, stabilité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" y="4050792"/>
            <a:ext cx="0" cy="182880"/>
          </a:xfrm>
          <a:prstGeom prst="line">
            <a:avLst/>
          </a:prstGeom>
          <a:noFill/>
          <a:ln w="12700">
            <a:solidFill>
              <a:srgbClr val="A8CAFF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548640" y="42976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279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51560" y="426110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XPER dès que disponible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57200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variable par variable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1051560"/>
            <a:ext cx="3749040" cy="3657600"/>
          </a:xfrm>
          <a:prstGeom prst="rect">
            <a:avLst/>
          </a:prstGeom>
          <a:solidFill>
            <a:srgbClr val="0D234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20640" y="11430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074920" y="1554480"/>
            <a:ext cx="3566160" cy="548640"/>
          </a:xfrm>
          <a:prstGeom prst="rect">
            <a:avLst/>
          </a:prstGeom>
          <a:solidFill>
            <a:srgbClr val="132A50"/>
          </a:solidFill>
          <a:ln w="12700">
            <a:solidFill>
              <a:srgbClr val="26487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15910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 (1996)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18288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Predictors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24(2)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74920" y="2194560"/>
            <a:ext cx="3566160" cy="548640"/>
          </a:xfrm>
          <a:prstGeom prst="rect">
            <a:avLst/>
          </a:prstGeom>
          <a:solidFill>
            <a:srgbClr val="132A50"/>
          </a:solidFill>
          <a:ln w="12700">
            <a:solidFill>
              <a:srgbClr val="264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2311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 &amp; Guestrin (2016)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24688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A Scalable Tree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System — KDD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74920" y="2834640"/>
            <a:ext cx="3566160" cy="548640"/>
          </a:xfrm>
          <a:prstGeom prst="rect">
            <a:avLst/>
          </a:prstGeom>
          <a:solidFill>
            <a:srgbClr val="132A50"/>
          </a:solidFill>
          <a:ln w="12700">
            <a:solidFill>
              <a:srgbClr val="26487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287121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 et al. (2009)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10896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of Statistical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— Ch.7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074920" y="3474720"/>
            <a:ext cx="3566160" cy="548640"/>
          </a:xfrm>
          <a:prstGeom prst="rect">
            <a:avLst/>
          </a:prstGeom>
          <a:solidFill>
            <a:srgbClr val="132A50"/>
          </a:solidFill>
          <a:ln w="12700">
            <a:solidFill>
              <a:srgbClr val="2648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66360" y="351129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Kohavi (1995)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166360" y="37490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— IJCAI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74920" y="4114800"/>
            <a:ext cx="3566160" cy="548640"/>
          </a:xfrm>
          <a:prstGeom prst="rect">
            <a:avLst/>
          </a:prstGeom>
          <a:solidFill>
            <a:srgbClr val="132A50"/>
          </a:solidFill>
          <a:ln w="12700">
            <a:solidFill>
              <a:srgbClr val="26487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66360" y="415137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Hué et al. (2023)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166360" y="43891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XPER — arXiv:2212.05866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0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F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2026-05-28T05:09:24Z</dcterms:created>
  <dcterms:modified xsi:type="dcterms:W3CDTF">2026-05-28T05:09:24Z</dcterms:modified>
</cp:coreProperties>
</file>