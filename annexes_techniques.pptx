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technique — NCP (Normalized Certainty Penalty)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 la perte d'information introduite par la généralisation de l'âge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6908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D8E2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869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850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14300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individu a 46 ans et tombe dans la tranche [42–48[, on ne sait plus son âge exact. On a 'perdu' 6 ans de précision sur un domaine de 50 ans (20 à 70 ans). Le NCP mesure cette perte pour chaque personne, puis fait la moyenne.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2121408"/>
            <a:ext cx="4069080" cy="1097280"/>
          </a:xfrm>
          <a:prstGeom prst="rect">
            <a:avLst/>
          </a:prstGeom>
          <a:solidFill>
            <a:srgbClr val="E1F5EE"/>
          </a:solidFill>
          <a:ln w="635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762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20040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 individuel  =  largeur de tranche  /  domaine total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2004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 global  =  (1/n) × Σᵢ (wᵢ / D)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20040" y="3044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= largeur tranche individu i     D = 50 ans (domaine 20→70)     n = nb individus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74320" y="3319272"/>
            <a:ext cx="4069080" cy="804672"/>
          </a:xfrm>
          <a:prstGeom prst="rect">
            <a:avLst/>
          </a:prstGeom>
          <a:solidFill>
            <a:srgbClr val="E8F5F0"/>
          </a:solidFill>
          <a:ln w="6350">
            <a:solidFill>
              <a:srgbClr val="1D9E7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40156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9808" y="3364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sur la base complète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20040" y="3611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NCP = 0,2593  →  25,9% d'info AGE perdue, 74,1% conservée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20040" y="3840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acceptable NCP &lt; 30% respecté  ✓   (Aggarwal, 2005)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72000" y="8046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détaillé — exemple sur 5 profils représentatifs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297680" cy="2057400"/>
        </p:xfrm>
        <a:graphic>
          <a:graphicData uri="http://schemas.openxmlformats.org/drawingml/2006/table">
            <a:tbl>
              <a:tblPr/>
              <a:tblGrid>
                <a:gridCol w="594360"/>
                <a:gridCol w="822960"/>
                <a:gridCol w="1325880"/>
                <a:gridCol w="868680"/>
                <a:gridCol w="100584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Individu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Âge exact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Tranche assignée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Largeur (wᵢ)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NCP = wᵢ / 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22 ans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[20 – 24[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4 ans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4/50 = 0,08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29 ans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[24 – 34[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10 ans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10/50 = 0,20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38 ans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[34 – 42[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8 ans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8/50 = 0,16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45 ans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[42 – 48[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6 ans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6/50 = 0,12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60 ans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[48 – 71[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23 ans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23/50 = 0,46 ⚠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2" name="Shape 16"/>
          <p:cNvSpPr/>
          <p:nvPr/>
        </p:nvSpPr>
        <p:spPr>
          <a:xfrm>
            <a:off x="4572000" y="3200400"/>
            <a:ext cx="4297680" cy="502920"/>
          </a:xfrm>
          <a:prstGeom prst="rect">
            <a:avLst/>
          </a:prstGeom>
          <a:solidFill>
            <a:srgbClr val="FFF4E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617720" y="3236976"/>
            <a:ext cx="4187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Individu E (60 ans) : grande tranche finale [48–71[ = 23 ans de large → NCP le plus élevé (0,46). Normal : la dernière tranche absorbe tous les âges tardifs.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0" y="3785616"/>
            <a:ext cx="4297680" cy="713232"/>
          </a:xfrm>
          <a:prstGeom prst="rect">
            <a:avLst/>
          </a:prstGeom>
          <a:solidFill>
            <a:srgbClr val="E1F5EE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663440" y="3813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synthétique :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663440" y="40050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remplaçant l'âge exact par une tranche, on floute en moyenne 26% de l'information sur cette variable — prix acceptable pour garantir qu'aucun individu n'est unique sur ses quasi-identifiants.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320040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juin 2026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8595360" y="49194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technique — Test z de proportion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les suppressions liées au k-anonymat ne biaisent pas la base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6052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D8E2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778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850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test 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12471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k-anonymat a supprimé 2 456 lignes (0,80%) qui ne pouvaient former un groupe de k=5 individus similaires. La question clé : ces suppressions sont-elles aléatoires, ou ciblaient-elles des profils particuliers (ex. : surtout des défauteurs) 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1920240"/>
            <a:ext cx="4160520" cy="1005840"/>
          </a:xfrm>
          <a:prstGeom prst="rect">
            <a:avLst/>
          </a:prstGeom>
          <a:solidFill>
            <a:srgbClr val="E1F5EE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statistiques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2231136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(nulle)   : </a:t>
            </a:r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défaut des lignes supprimées = taux des lignes gardées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(alternative) : </a:t>
            </a:r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taux sont significativement différents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017520"/>
            <a:ext cx="4160520" cy="822960"/>
          </a:xfrm>
          <a:prstGeom prst="rect">
            <a:avLst/>
          </a:prstGeom>
          <a:solidFill>
            <a:srgbClr val="F4F6F8"/>
          </a:solidFill>
          <a:ln w="6350">
            <a:solidFill>
              <a:srgbClr val="D8E2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0449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 de test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" y="3291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=  (p̂₁ – p̂₂)  /  √[ p̂(1–p̂) × (1/n₁ + 1/n₂) ]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7472" y="359359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= proportion globale de défaut poolée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5488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observées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4114800" cy="96012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Groupe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Effectif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Taux de défaut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</a:rPr>
                        <a:t>Lignes gardées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</a:rPr>
                        <a:t>305 055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</a:rPr>
                        <a:t>8,070%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</a:rPr>
                        <a:t>Lignes supprimées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4A4A"/>
                          </a:solidFill>
                        </a:rPr>
                        <a:t>2 456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</a:rPr>
                        <a:t>8,133%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4754880" y="2103120"/>
            <a:ext cx="41148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8E2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28032" y="2176272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Écart brut  |Δp|  =  |8,133% – 8,070%|  =  0,063 pp  →  négligeable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54880" y="2697480"/>
            <a:ext cx="4114800" cy="640080"/>
          </a:xfrm>
          <a:prstGeom prst="rect">
            <a:avLst/>
          </a:prstGeom>
          <a:solidFill>
            <a:srgbClr val="E8F5F0"/>
          </a:solidFill>
          <a:ln w="6350">
            <a:solidFill>
              <a:srgbClr val="1D9E75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77977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12080" y="27432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 =  0,909  &gt;&gt;  0,05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46320" y="3017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rejette pas H₀  →  suppression MCAR (Missing Completely At Random)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754880" y="3429000"/>
            <a:ext cx="4114800" cy="914400"/>
          </a:xfrm>
          <a:prstGeom prst="rect">
            <a:avLst/>
          </a:prstGeom>
          <a:solidFill>
            <a:srgbClr val="E1F5EE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64608" y="345643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signifie concrètement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864608" y="3730752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2 456 lignes supprimées ont un taux de défaut statistiquement identique aux lignes conservées. Les suppressions sont donc aléatoires : elles ne créent pas de biais sur la variable cible. La représentativité de la base est préservée.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20040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juin 2026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8595360" y="49194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B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Résultats, validation &amp; capitalisation métier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notre travail prouve — et comment en faire un outil pour les équipes d'inspection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résultats de validation statistique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777240"/>
          </a:xfrm>
          <a:prstGeom prst="rect">
            <a:avLst/>
          </a:prstGeom>
          <a:solidFill>
            <a:srgbClr val="E1F5EE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247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" y="1508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d'anonymat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1097280"/>
            <a:ext cx="2011680" cy="777240"/>
          </a:xfrm>
          <a:prstGeom prst="rect">
            <a:avLst/>
          </a:prstGeom>
          <a:solidFill>
            <a:srgbClr val="F4F6F8"/>
          </a:solidFill>
          <a:ln w="8890">
            <a:solidFill>
              <a:srgbClr val="D8E2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3744" y="11247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523744" y="1508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supprimées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6864" y="1097280"/>
            <a:ext cx="2011680" cy="777240"/>
          </a:xfrm>
          <a:prstGeom prst="rect">
            <a:avLst/>
          </a:prstGeom>
          <a:solidFill>
            <a:srgbClr val="E8F5F0"/>
          </a:solidFill>
          <a:ln w="889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1247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0,909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0016" y="1508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z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(MCAR ✓)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03136" y="1097280"/>
            <a:ext cx="2011680" cy="777240"/>
          </a:xfrm>
          <a:prstGeom prst="rect">
            <a:avLst/>
          </a:prstGeom>
          <a:solidFill>
            <a:srgbClr val="FFF4E0"/>
          </a:solidFill>
          <a:ln w="889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11247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NCP 0,26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76288" y="1508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info 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 ✓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965960"/>
            <a:ext cx="8595360" cy="457200"/>
          </a:xfrm>
          <a:prstGeom prst="rect">
            <a:avLst/>
          </a:prstGeom>
          <a:solidFill>
            <a:srgbClr val="E8F5F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00253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synthétique anonymisée conserve les propriétés statistiques de la base réelle (taux de défaut, distributions, corrélations) tout en garantissant qu'aucun individu n'est ré-identifiable sur ses quasi-identifiants. Elle est prête pour l'entraînement de modèles TSTR.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2542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capitaliser sur ce travail — équipes d'inspection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2834640" cy="1920240"/>
          </a:xfrm>
          <a:prstGeom prst="rect">
            <a:avLst/>
          </a:prstGeom>
          <a:solidFill>
            <a:srgbClr val="E1F5EE"/>
          </a:solidFill>
          <a:ln w="6350">
            <a:solidFill>
              <a:srgbClr val="02809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07792"/>
            <a:ext cx="301752" cy="30175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77240" y="290779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sans risque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84048" y="3246120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inspecteur peut utiliser la base synthétique anonymisée pour tester des requêtes, former ses analyses ou auditer un modèle — sans jamais toucher aux données clients réelles.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3218688" y="2834640"/>
            <a:ext cx="2834640" cy="1920240"/>
          </a:xfrm>
          <a:prstGeom prst="rect">
            <a:avLst/>
          </a:prstGeom>
          <a:solidFill>
            <a:srgbClr val="F4F6F8"/>
          </a:solidFill>
          <a:ln w="6350">
            <a:solidFill>
              <a:srgbClr val="D8E2EB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2907792"/>
            <a:ext cx="301752" cy="30175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721608" y="290779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Benchmarker les modèles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328416" y="3246120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TSTR (Train Synthetic, Test Real) est réplicable : il suffit de brancher un nouveau modèle de scoring. L'équipe dispose d'un protocole d'évaluation standardisé, reproductible et auditables.</a:t>
            </a:r>
            <a:endParaRPr lang="en-US" sz="920" dirty="0"/>
          </a:p>
        </p:txBody>
      </p:sp>
      <p:sp>
        <p:nvSpPr>
          <p:cNvPr id="29" name="Shape 25"/>
          <p:cNvSpPr/>
          <p:nvPr/>
        </p:nvSpPr>
        <p:spPr>
          <a:xfrm>
            <a:off x="6163056" y="2834640"/>
            <a:ext cx="2834640" cy="1920240"/>
          </a:xfrm>
          <a:prstGeom prst="rect">
            <a:avLst/>
          </a:prstGeom>
          <a:solidFill>
            <a:srgbClr val="FFF4E0"/>
          </a:solidFill>
          <a:ln w="6350">
            <a:solidFill>
              <a:srgbClr val="F5A623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2907792"/>
            <a:ext cx="301752" cy="30175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65976" y="290779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à d'autres bases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272784" y="3246120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méthodologie est modulaire : chaque étape (CTGAN, k-anonymat, TSTR) peut être appliquée à n'importe quelle base interne en ajustant les quasi-identifiants et les contraintes réglementaires propres à l'institution.</a:t>
            </a:r>
            <a:endParaRPr lang="en-US" sz="920" dirty="0"/>
          </a:p>
        </p:txBody>
      </p:sp>
      <p:sp>
        <p:nvSpPr>
          <p:cNvPr id="33" name="Text 28"/>
          <p:cNvSpPr/>
          <p:nvPr/>
        </p:nvSpPr>
        <p:spPr>
          <a:xfrm>
            <a:off x="320040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juin 2026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8595360" y="49194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Annexes Techniques — Validation Statistique</dc:title>
  <dc:subject>PptxGenJS Presentation</dc:subject>
  <dc:creator>PptxGenJS</dc:creator>
  <cp:lastModifiedBy>PptxGenJS</cp:lastModifiedBy>
  <cp:revision>1</cp:revision>
  <dcterms:created xsi:type="dcterms:W3CDTF">2026-06-03T17:42:44Z</dcterms:created>
  <dcterms:modified xsi:type="dcterms:W3CDTF">2026-06-03T17:42:44Z</dcterms:modified>
</cp:coreProperties>
</file>