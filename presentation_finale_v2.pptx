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8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" name="Google Shape;2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F6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07A7C">
              <a:alpha val="60000"/>
            </a:srgbClr>
          </a:solidFill>
          <a:ln w="12700" cap="flat" cmpd="sng">
            <a:solidFill>
              <a:srgbClr val="007A7C">
                <a:alpha val="6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949440" y="0"/>
            <a:ext cx="2194560" cy="5143500"/>
          </a:xfrm>
          <a:prstGeom prst="rect">
            <a:avLst/>
          </a:prstGeom>
          <a:solidFill>
            <a:srgbClr val="009EA0">
              <a:alpha val="45098"/>
            </a:srgbClr>
          </a:solidFill>
          <a:ln w="12700" cap="flat" cmpd="sng">
            <a:solidFill>
              <a:srgbClr val="009EA0">
                <a:alpha val="4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0" y="1645920"/>
            <a:ext cx="164592" cy="182880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320040" y="822960"/>
            <a:ext cx="658368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Données Synthétiques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Scoring Crédit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20040" y="2743200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D8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A8D8D8"/>
                </a:solidFill>
                <a:latin typeface="Calibri"/>
                <a:ea typeface="Calibri"/>
                <a:cs typeface="Calibri"/>
                <a:sym typeface="Calibri"/>
              </a:rPr>
              <a:t>Comment interpréter et qualifier les métriques de performance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D8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A8D8D8"/>
                </a:solidFill>
                <a:latin typeface="Calibri"/>
                <a:ea typeface="Calibri"/>
                <a:cs typeface="Calibri"/>
                <a:sym typeface="Calibri"/>
              </a:rPr>
              <a:t>d'un modèle de scoring à partir d'une base synthétique anonymisée 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20040" y="38404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FAAA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FAAAA"/>
                </a:solidFill>
                <a:latin typeface="Calibri"/>
                <a:ea typeface="Calibri"/>
                <a:cs typeface="Calibri"/>
                <a:sym typeface="Calibri"/>
              </a:rPr>
              <a:t>Présentation d'avancement — Stage 2025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766560" y="731520"/>
            <a:ext cx="2011680" cy="201168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>
              <a:alpha val="12156"/>
            </a:srgbClr>
          </a:solidFill>
          <a:ln w="12700" cap="flat" cmpd="sng">
            <a:solidFill>
              <a:srgbClr val="FFFFFF">
                <a:alpha val="2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7178040" y="1143000"/>
            <a:ext cx="1188720" cy="11887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FFFF">
              <a:alpha val="20000"/>
            </a:srgbClr>
          </a:solidFill>
          <a:ln w="12700" cap="flat" cmpd="sng">
            <a:solidFill>
              <a:srgbClr val="FFFFFF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A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5F61"/>
          </a:solidFill>
          <a:ln w="12700" cap="flat" cmpd="sng">
            <a:solidFill>
              <a:srgbClr val="005F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Contexte — Pourquoi ce projet ?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5F61"/>
          </a:solidFill>
          <a:ln w="12700" cap="flat" cmpd="sng">
            <a:solidFill>
              <a:srgbClr val="005F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274320" y="48737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D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8D8D8"/>
                </a:solidFill>
                <a:latin typeface="Calibri"/>
                <a:ea typeface="Calibri"/>
                <a:cs typeface="Calibri"/>
                <a:sym typeface="Calibri"/>
              </a:rPr>
              <a:t>Données Synthétiques &amp; Scoring Crédit — Stage 2025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8321040" y="487375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8D8D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8D8D8"/>
                </a:solidFill>
                <a:latin typeface="Calibri"/>
                <a:ea typeface="Calibri"/>
                <a:cs typeface="Calibri"/>
                <a:sym typeface="Calibri"/>
              </a:rPr>
              <a:t>2 / 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274320" y="960120"/>
            <a:ext cx="8595360" cy="1371600"/>
          </a:xfrm>
          <a:prstGeom prst="rect">
            <a:avLst/>
          </a:prstGeom>
          <a:solidFill>
            <a:srgbClr val="005F61"/>
          </a:solidFill>
          <a:ln w="12700" cap="flat" cmpd="sng">
            <a:solidFill>
              <a:srgbClr val="005F61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57200" y="96012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Dans notre métier, on sort des AUC, des Gini. On dit que le modèle est bon ou mauvais.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Mais est-ce qu'on sait vraiment ce que ces chiffres disent ?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274320" y="2514600"/>
            <a:ext cx="2743200" cy="1371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E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274320" y="2514600"/>
            <a:ext cx="64008" cy="1371600"/>
          </a:xfrm>
          <a:prstGeom prst="rect">
            <a:avLst/>
          </a:prstGeom>
          <a:solidFill>
            <a:srgbClr val="007A7C"/>
          </a:solidFill>
          <a:ln w="12700" cap="flat" cmpd="sng">
            <a:solidFill>
              <a:srgbClr val="007A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1371600" y="2578608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7A7C"/>
          </a:solidFill>
          <a:ln w="12700" cap="flat" cmpd="sng">
            <a:solidFill>
              <a:srgbClr val="007A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1371600" y="25786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84048" y="3127248"/>
            <a:ext cx="2514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Quelle variable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tire l'AUC vers le haut 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3154680" y="2514600"/>
            <a:ext cx="2743200" cy="1371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E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3154680" y="2514600"/>
            <a:ext cx="64008" cy="1371600"/>
          </a:xfrm>
          <a:prstGeom prst="rect">
            <a:avLst/>
          </a:prstGeom>
          <a:solidFill>
            <a:srgbClr val="007A7C"/>
          </a:solidFill>
          <a:ln w="12700" cap="flat" cmpd="sng">
            <a:solidFill>
              <a:srgbClr val="007A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251960" y="2578608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7A7C"/>
          </a:solidFill>
          <a:ln w="12700" cap="flat" cmpd="sng">
            <a:solidFill>
              <a:srgbClr val="007A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251960" y="25786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264408" y="3127248"/>
            <a:ext cx="2514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Quelle information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a été perdue en chemin 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035040" y="2514600"/>
            <a:ext cx="2743200" cy="13716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E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6035040" y="2514600"/>
            <a:ext cx="64008" cy="1371600"/>
          </a:xfrm>
          <a:prstGeom prst="rect">
            <a:avLst/>
          </a:prstGeom>
          <a:solidFill>
            <a:srgbClr val="007A7C"/>
          </a:solidFill>
          <a:ln w="12700" cap="flat" cmpd="sng">
            <a:solidFill>
              <a:srgbClr val="007A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7132320" y="2578608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7A7C"/>
          </a:solidFill>
          <a:ln w="12700" cap="flat" cmpd="sng">
            <a:solidFill>
              <a:srgbClr val="007A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7132320" y="25786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144768" y="3127248"/>
            <a:ext cx="2514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Comment mesurer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ça rigoureusement ?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274320" y="406908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5F61"/>
              </a:buClr>
              <a:buSzPts val="1200"/>
              <a:buFont typeface="Calibri"/>
              <a:buNone/>
            </a:pPr>
            <a:r>
              <a:rPr lang="en-US" sz="1200" b="1" i="1" u="none" strike="noStrike" cap="none">
                <a:solidFill>
                  <a:srgbClr val="005F61"/>
                </a:solidFill>
                <a:latin typeface="Calibri"/>
                <a:ea typeface="Calibri"/>
                <a:cs typeface="Calibri"/>
                <a:sym typeface="Calibri"/>
              </a:rPr>
              <a:t>C'est précisément quand on substitue les données réelles par du synthétique qu'on voit ce que les métriques capturent — et ce qu'elles ratent.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F6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5F61"/>
          </a:solidFill>
          <a:ln w="12700" cap="flat" cmpd="sng">
            <a:solidFill>
              <a:srgbClr val="005F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274320" y="48737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D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8D8D8"/>
                </a:solidFill>
                <a:latin typeface="Calibri"/>
                <a:ea typeface="Calibri"/>
                <a:cs typeface="Calibri"/>
                <a:sym typeface="Calibri"/>
              </a:rPr>
              <a:t>Données Synthétiques &amp; Scoring Crédit — Stage 2025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8321040" y="487375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8D8D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8D8D8"/>
                </a:solidFill>
                <a:latin typeface="Calibri"/>
                <a:ea typeface="Calibri"/>
                <a:cs typeface="Calibri"/>
                <a:sym typeface="Calibri"/>
              </a:rPr>
              <a:t>3 / 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D8D8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A8D8D8"/>
                </a:solidFill>
                <a:latin typeface="Calibri"/>
                <a:ea typeface="Calibri"/>
                <a:cs typeface="Calibri"/>
                <a:sym typeface="Calibri"/>
              </a:rPr>
              <a:t>Problématique centrale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48640" y="868680"/>
            <a:ext cx="8046720" cy="2103120"/>
          </a:xfrm>
          <a:prstGeom prst="rect">
            <a:avLst/>
          </a:prstGeom>
          <a:solidFill>
            <a:srgbClr val="005254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731520" y="960120"/>
            <a:ext cx="768096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« Comment interpréter et qualifier les métriques de performance d'un modèle de scoring pour comprendre ce qu'elles révèlent sur la qualité d'une base synthétique anonymisée ? »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48640" y="320040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960120" y="3172968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EEE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D0EEEE"/>
                </a:solidFill>
                <a:latin typeface="Calibri"/>
                <a:ea typeface="Calibri"/>
                <a:cs typeface="Calibri"/>
                <a:sym typeface="Calibri"/>
              </a:rPr>
              <a:t>La synthèse de données comme terrain d'expérimentation contrôlé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48640" y="370332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960120" y="3675888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EEE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D0EEEE"/>
                </a:solidFill>
                <a:latin typeface="Calibri"/>
                <a:ea typeface="Calibri"/>
                <a:cs typeface="Calibri"/>
                <a:sym typeface="Calibri"/>
              </a:rPr>
              <a:t>L'anonymisation comme contrainte réglementaire incontournable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48640" y="420624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960120" y="4178808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0EEE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D0EEEE"/>
                </a:solidFill>
                <a:latin typeface="Calibri"/>
                <a:ea typeface="Calibri"/>
                <a:cs typeface="Calibri"/>
                <a:sym typeface="Calibri"/>
              </a:rPr>
              <a:t>L'interprétabilité des métriques comme objectif central du stage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A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5F61"/>
          </a:solidFill>
          <a:ln w="12700" cap="flat" cmpd="sng">
            <a:solidFill>
              <a:srgbClr val="005F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Les 3 Objectifs — Une chaîne logique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5F61"/>
          </a:solidFill>
          <a:ln w="12700" cap="flat" cmpd="sng">
            <a:solidFill>
              <a:srgbClr val="005F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274320" y="48737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D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8D8D8"/>
                </a:solidFill>
                <a:latin typeface="Calibri"/>
                <a:ea typeface="Calibri"/>
                <a:cs typeface="Calibri"/>
                <a:sym typeface="Calibri"/>
              </a:rPr>
              <a:t>Données Synthétiques &amp; Scoring Crédit — Stage 2025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8321040" y="487375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8D8D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8D8D8"/>
                </a:solidFill>
                <a:latin typeface="Calibri"/>
                <a:ea typeface="Calibri"/>
                <a:cs typeface="Calibri"/>
                <a:sym typeface="Calibri"/>
              </a:rPr>
              <a:t>4 / 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274320" y="960120"/>
            <a:ext cx="8595360" cy="11155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E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274320" y="960120"/>
            <a:ext cx="64008" cy="1115568"/>
          </a:xfrm>
          <a:prstGeom prst="rect">
            <a:avLst/>
          </a:prstGeom>
          <a:solidFill>
            <a:srgbClr val="007A7C"/>
          </a:solidFill>
          <a:ln w="12700" cap="flat" cmpd="sng">
            <a:solidFill>
              <a:srgbClr val="007A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411480" y="1207008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7A7C"/>
          </a:solidFill>
          <a:ln w="12700" cap="flat" cmpd="sng">
            <a:solidFill>
              <a:srgbClr val="007A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411480" y="1207008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1143000" y="1051560"/>
            <a:ext cx="7223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Générer &amp; Anonymiser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1143000" y="1435608"/>
            <a:ext cx="7223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787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F7878"/>
                </a:solidFill>
                <a:latin typeface="Calibri"/>
                <a:ea typeface="Calibri"/>
                <a:cs typeface="Calibri"/>
                <a:sym typeface="Calibri"/>
              </a:rPr>
              <a:t>Construire plusieurs bases synthétiques à partir de données de crédit réelles, les anonymiser, et en évaluer la qualité. C'est le matériau sans lequel rien n'est possible.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274320" y="2221992"/>
            <a:ext cx="8595360" cy="11155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E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274320" y="2221992"/>
            <a:ext cx="64008" cy="1115568"/>
          </a:xfrm>
          <a:prstGeom prst="rect">
            <a:avLst/>
          </a:prstGeom>
          <a:solidFill>
            <a:srgbClr val="009EA0"/>
          </a:solidFill>
          <a:ln w="12700" cap="flat" cmpd="sng">
            <a:solidFill>
              <a:srgbClr val="009E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411480" y="2468880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9EA0"/>
          </a:solidFill>
          <a:ln w="12700" cap="flat" cmpd="sng">
            <a:solidFill>
              <a:srgbClr val="009E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411480" y="24688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1143000" y="2313432"/>
            <a:ext cx="7223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Scorer &amp; Comparer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1143000" y="2697480"/>
            <a:ext cx="7223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787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F7878"/>
                </a:solidFill>
                <a:latin typeface="Calibri"/>
                <a:ea typeface="Calibri"/>
                <a:cs typeface="Calibri"/>
                <a:sym typeface="Calibri"/>
              </a:rPr>
              <a:t>Entraîner des modèles de scoring sur ces bases et calculer les métriques — AUC, Gini, courbes ROC. Comparer les résultats sur synthétique versus réel.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274320" y="3483864"/>
            <a:ext cx="8595360" cy="111556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E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274320" y="3483864"/>
            <a:ext cx="64008" cy="1115568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411480" y="3730752"/>
            <a:ext cx="594360" cy="5943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411480" y="3730752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1143000" y="3575304"/>
            <a:ext cx="7223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Interpréter &amp; Expliquer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1143000" y="3959352"/>
            <a:ext cx="7223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787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F7878"/>
                </a:solidFill>
                <a:latin typeface="Calibri"/>
                <a:ea typeface="Calibri"/>
                <a:cs typeface="Calibri"/>
                <a:sym typeface="Calibri"/>
              </a:rPr>
              <a:t>L'objectif central. Pas juste lire un chiffre — comprendre ce qu'il dit. Quelle variable contribue le plus ? Qu'est-ce qu'on a perdu ? C'est ici qu'intervient la méthode XPER.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274320" y="468172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5F61"/>
              </a:buClr>
              <a:buSzPts val="1050"/>
              <a:buFont typeface="Calibri"/>
              <a:buNone/>
            </a:pPr>
            <a:r>
              <a:rPr lang="en-US" sz="1050" b="1" i="1" u="none" strike="noStrike" cap="none">
                <a:solidFill>
                  <a:srgbClr val="005F61"/>
                </a:solidFill>
                <a:latin typeface="Calibri"/>
                <a:ea typeface="Calibri"/>
                <a:cs typeface="Calibri"/>
                <a:sym typeface="Calibri"/>
              </a:rPr>
              <a:t>→  La synthèse et l'anonymisation ne sont pas la finalité — elles sont la condition pour répondre à la vraie question.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A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5F61"/>
          </a:solidFill>
          <a:ln w="12700" cap="flat" cmpd="sng">
            <a:solidFill>
              <a:srgbClr val="005F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Générer — Les 3 modèles testés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365760" y="68580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7878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5F7878"/>
                </a:solidFill>
                <a:latin typeface="Calibri"/>
                <a:ea typeface="Calibri"/>
                <a:cs typeface="Calibri"/>
                <a:sym typeface="Calibri"/>
              </a:rPr>
              <a:t>De la logique des deepfakes à la synthèse tabulaire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5F61"/>
          </a:solidFill>
          <a:ln w="12700" cap="flat" cmpd="sng">
            <a:solidFill>
              <a:srgbClr val="005F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274320" y="48737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D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8D8D8"/>
                </a:solidFill>
                <a:latin typeface="Calibri"/>
                <a:ea typeface="Calibri"/>
                <a:cs typeface="Calibri"/>
                <a:sym typeface="Calibri"/>
              </a:rPr>
              <a:t>Données Synthétiques &amp; Scoring Crédit — Stage 2025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8321040" y="487375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8D8D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8D8D8"/>
                </a:solidFill>
                <a:latin typeface="Calibri"/>
                <a:ea typeface="Calibri"/>
                <a:cs typeface="Calibri"/>
                <a:sym typeface="Calibri"/>
              </a:rPr>
              <a:t>5 / 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274320" y="960120"/>
            <a:ext cx="8595360" cy="749808"/>
          </a:xfrm>
          <a:prstGeom prst="rect">
            <a:avLst/>
          </a:prstGeom>
          <a:solidFill>
            <a:srgbClr val="E0F4F4"/>
          </a:solidFill>
          <a:ln w="12700" cap="flat" cmpd="sng">
            <a:solidFill>
              <a:srgbClr val="E8EE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274320" y="960120"/>
            <a:ext cx="64008" cy="749808"/>
          </a:xfrm>
          <a:prstGeom prst="rect">
            <a:avLst/>
          </a:prstGeom>
          <a:solidFill>
            <a:srgbClr val="007A7C"/>
          </a:solidFill>
          <a:ln w="12700" cap="flat" cmpd="sng">
            <a:solidFill>
              <a:srgbClr val="007A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411480" y="987552"/>
            <a:ext cx="832104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Vous connaissez les deepfakes — une vidéo si bien générée qu'on ne distingue plus le vrai du faux. L'idée ici est la même, appliquée à des données bancaires : créer des clients artificiels qui ressemblent à de vrais clients, sans jamais en exposer un.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274320" y="1874520"/>
            <a:ext cx="2743200" cy="27889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E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274320" y="1874520"/>
            <a:ext cx="2743200" cy="438912"/>
          </a:xfrm>
          <a:prstGeom prst="rect">
            <a:avLst/>
          </a:prstGeom>
          <a:solidFill>
            <a:srgbClr val="007A7C"/>
          </a:solidFill>
          <a:ln w="12700" cap="flat" cmpd="sng">
            <a:solidFill>
              <a:srgbClr val="007A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274320" y="1874520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CTGAN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365760" y="242316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787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F7878"/>
                </a:solidFill>
                <a:latin typeface="Calibri"/>
                <a:ea typeface="Calibri"/>
                <a:cs typeface="Calibri"/>
                <a:sym typeface="Calibri"/>
              </a:rPr>
              <a:t>Taux de défaut synthétique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365760" y="2651760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10.37%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365760" y="315468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787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F7878"/>
                </a:solidFill>
                <a:latin typeface="Calibri"/>
                <a:ea typeface="Calibri"/>
                <a:cs typeface="Calibri"/>
                <a:sym typeface="Calibri"/>
              </a:rPr>
              <a:t>Réalité : 8.05%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365760" y="3456432"/>
            <a:ext cx="2560320" cy="45720"/>
          </a:xfrm>
          <a:prstGeom prst="rect">
            <a:avLst/>
          </a:prstGeom>
          <a:solidFill>
            <a:srgbClr val="E8EEEE"/>
          </a:solidFill>
          <a:ln w="12700" cap="flat" cmpd="sng">
            <a:solidFill>
              <a:srgbClr val="E8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274320" y="4224528"/>
            <a:ext cx="2743200" cy="438912"/>
          </a:xfrm>
          <a:prstGeom prst="rect">
            <a:avLst/>
          </a:prstGeom>
          <a:solidFill>
            <a:srgbClr val="C0392B">
              <a:alpha val="85098"/>
            </a:srgbClr>
          </a:solidFill>
          <a:ln w="12700" cap="flat" cmpd="sng">
            <a:solidFill>
              <a:srgbClr val="C0392B">
                <a:alpha val="8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274320" y="4224528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Sur-génère les défauts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3154680" y="1874520"/>
            <a:ext cx="2743200" cy="27889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E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3154680" y="1874520"/>
            <a:ext cx="2743200" cy="438912"/>
          </a:xfrm>
          <a:prstGeom prst="rect">
            <a:avLst/>
          </a:prstGeom>
          <a:solidFill>
            <a:srgbClr val="009EA0"/>
          </a:solidFill>
          <a:ln w="12700" cap="flat" cmpd="sng">
            <a:solidFill>
              <a:srgbClr val="009E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3154680" y="1874520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TVAE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3246120" y="242316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787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F7878"/>
                </a:solidFill>
                <a:latin typeface="Calibri"/>
                <a:ea typeface="Calibri"/>
                <a:cs typeface="Calibri"/>
                <a:sym typeface="Calibri"/>
              </a:rPr>
              <a:t>Taux de défaut synthétique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3246120" y="2651760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1.5%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3246120" y="315468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787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F7878"/>
                </a:solidFill>
                <a:latin typeface="Calibri"/>
                <a:ea typeface="Calibri"/>
                <a:cs typeface="Calibri"/>
                <a:sym typeface="Calibri"/>
              </a:rPr>
              <a:t>Réalité : 8.16%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3246120" y="3456432"/>
            <a:ext cx="2560320" cy="45720"/>
          </a:xfrm>
          <a:prstGeom prst="rect">
            <a:avLst/>
          </a:prstGeom>
          <a:solidFill>
            <a:srgbClr val="E8EEEE"/>
          </a:solidFill>
          <a:ln w="12700" cap="flat" cmpd="sng">
            <a:solidFill>
              <a:srgbClr val="E8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3154680" y="4224528"/>
            <a:ext cx="2743200" cy="438912"/>
          </a:xfrm>
          <a:prstGeom prst="rect">
            <a:avLst/>
          </a:prstGeom>
          <a:solidFill>
            <a:srgbClr val="C0392B">
              <a:alpha val="85098"/>
            </a:srgbClr>
          </a:solidFill>
          <a:ln w="12700" cap="flat" cmpd="sng">
            <a:solidFill>
              <a:srgbClr val="C0392B">
                <a:alpha val="8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3154680" y="4224528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Efface les défauts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6035040" y="1874520"/>
            <a:ext cx="2743200" cy="27889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E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6035040" y="1874520"/>
            <a:ext cx="2743200" cy="438912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6035040" y="1874520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Bayésien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6126480" y="242316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7878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F7878"/>
                </a:solidFill>
                <a:latin typeface="Calibri"/>
                <a:ea typeface="Calibri"/>
                <a:cs typeface="Calibri"/>
                <a:sym typeface="Calibri"/>
              </a:rPr>
              <a:t>Taux de défaut synthétique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6126480" y="2651760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8.09%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6126480" y="3154680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F7878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5F7878"/>
                </a:solidFill>
                <a:latin typeface="Calibri"/>
                <a:ea typeface="Calibri"/>
                <a:cs typeface="Calibri"/>
                <a:sym typeface="Calibri"/>
              </a:rPr>
              <a:t>Réalité : 8.09%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6126480" y="3456432"/>
            <a:ext cx="2560320" cy="45720"/>
          </a:xfrm>
          <a:prstGeom prst="rect">
            <a:avLst/>
          </a:prstGeom>
          <a:solidFill>
            <a:srgbClr val="E8EEEE"/>
          </a:solidFill>
          <a:ln w="12700" cap="flat" cmpd="sng">
            <a:solidFill>
              <a:srgbClr val="E8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6035040" y="4224528"/>
            <a:ext cx="2743200" cy="438912"/>
          </a:xfrm>
          <a:prstGeom prst="rect">
            <a:avLst/>
          </a:prstGeom>
          <a:solidFill>
            <a:srgbClr val="27AE60">
              <a:alpha val="85098"/>
            </a:srgbClr>
          </a:solidFill>
          <a:ln w="12700" cap="flat" cmpd="sng">
            <a:solidFill>
              <a:srgbClr val="27AE60">
                <a:alpha val="8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6035040" y="4224528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Quasiment identique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A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5F61"/>
          </a:solidFill>
          <a:ln w="12700" cap="flat" cmpd="sng">
            <a:solidFill>
              <a:srgbClr val="005F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Ce qu'on retient &amp; les pistes d'amélioration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5F61"/>
          </a:solidFill>
          <a:ln w="12700" cap="flat" cmpd="sng">
            <a:solidFill>
              <a:srgbClr val="005F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274320" y="48737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D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8D8D8"/>
                </a:solidFill>
                <a:latin typeface="Calibri"/>
                <a:ea typeface="Calibri"/>
                <a:cs typeface="Calibri"/>
                <a:sym typeface="Calibri"/>
              </a:rPr>
              <a:t>Données Synthétiques &amp; Scoring Crédit — Stage 2025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8321040" y="487375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8D8D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8D8D8"/>
                </a:solidFill>
                <a:latin typeface="Calibri"/>
                <a:ea typeface="Calibri"/>
                <a:cs typeface="Calibri"/>
                <a:sym typeface="Calibri"/>
              </a:rPr>
              <a:t>6 / 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228600" y="804672"/>
            <a:ext cx="2468880" cy="493776"/>
          </a:xfrm>
          <a:prstGeom prst="rect">
            <a:avLst/>
          </a:prstGeom>
          <a:solidFill>
            <a:srgbClr val="005F61"/>
          </a:solidFill>
          <a:ln w="12700" cap="flat" cmpd="sng">
            <a:solidFill>
              <a:srgbClr val="005F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301752" y="804672"/>
            <a:ext cx="232257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Critère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2743200" y="804672"/>
            <a:ext cx="2148840" cy="493776"/>
          </a:xfrm>
          <a:prstGeom prst="rect">
            <a:avLst/>
          </a:prstGeom>
          <a:solidFill>
            <a:srgbClr val="005F61"/>
          </a:solidFill>
          <a:ln w="12700" cap="flat" cmpd="sng">
            <a:solidFill>
              <a:srgbClr val="005F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2816352" y="804672"/>
            <a:ext cx="200253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CTGAN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4937760" y="804672"/>
            <a:ext cx="2148840" cy="493776"/>
          </a:xfrm>
          <a:prstGeom prst="rect">
            <a:avLst/>
          </a:prstGeom>
          <a:solidFill>
            <a:srgbClr val="005F61"/>
          </a:solidFill>
          <a:ln w="12700" cap="flat" cmpd="sng">
            <a:solidFill>
              <a:srgbClr val="005F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5010912" y="804672"/>
            <a:ext cx="200253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TVAE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7132320" y="804672"/>
            <a:ext cx="1920240" cy="493776"/>
          </a:xfrm>
          <a:prstGeom prst="rect">
            <a:avLst/>
          </a:prstGeom>
          <a:solidFill>
            <a:srgbClr val="005F61"/>
          </a:solidFill>
          <a:ln w="12700" cap="flat" cmpd="sng">
            <a:solidFill>
              <a:srgbClr val="005F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7205472" y="804672"/>
            <a:ext cx="177393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Bayésien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228600" y="1316736"/>
            <a:ext cx="2468880" cy="4937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0E4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301752" y="1316736"/>
            <a:ext cx="232257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F61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05F61"/>
                </a:solidFill>
                <a:latin typeface="Calibri"/>
                <a:ea typeface="Calibri"/>
                <a:cs typeface="Calibri"/>
                <a:sym typeface="Calibri"/>
              </a:rPr>
              <a:t>Distributions complexes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2743200" y="1316736"/>
            <a:ext cx="2148840" cy="4937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0E4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2816352" y="1316736"/>
            <a:ext cx="200253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✔✔  Très bon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937760" y="1316736"/>
            <a:ext cx="2148840" cy="4937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0E4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5010912" y="1316736"/>
            <a:ext cx="200253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✔  Bon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7132320" y="1316736"/>
            <a:ext cx="1920240" cy="4937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0E4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7205472" y="1316736"/>
            <a:ext cx="177393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⚠  Limité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228600" y="1828800"/>
            <a:ext cx="2468880" cy="493776"/>
          </a:xfrm>
          <a:prstGeom prst="rect">
            <a:avLst/>
          </a:prstGeom>
          <a:solidFill>
            <a:srgbClr val="EEF7F7"/>
          </a:solidFill>
          <a:ln w="12700" cap="flat" cmpd="sng">
            <a:solidFill>
              <a:srgbClr val="D0E4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301752" y="1828800"/>
            <a:ext cx="232257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F61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05F61"/>
                </a:solidFill>
                <a:latin typeface="Calibri"/>
                <a:ea typeface="Calibri"/>
                <a:cs typeface="Calibri"/>
                <a:sym typeface="Calibri"/>
              </a:rPr>
              <a:t>Taux de défaut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2743200" y="1828800"/>
            <a:ext cx="2148840" cy="493776"/>
          </a:xfrm>
          <a:prstGeom prst="rect">
            <a:avLst/>
          </a:prstGeom>
          <a:solidFill>
            <a:srgbClr val="EEF7F7"/>
          </a:solidFill>
          <a:ln w="12700" cap="flat" cmpd="sng">
            <a:solidFill>
              <a:srgbClr val="D0E4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2816352" y="1828800"/>
            <a:ext cx="200253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⚠  10.37% vs 8%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937760" y="1828800"/>
            <a:ext cx="2148840" cy="493776"/>
          </a:xfrm>
          <a:prstGeom prst="rect">
            <a:avLst/>
          </a:prstGeom>
          <a:solidFill>
            <a:srgbClr val="EEF7F7"/>
          </a:solidFill>
          <a:ln w="12700" cap="flat" cmpd="sng">
            <a:solidFill>
              <a:srgbClr val="D0E4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5010912" y="1828800"/>
            <a:ext cx="200253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⚠  1.5% vs 8%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7132320" y="1828800"/>
            <a:ext cx="1920240" cy="493776"/>
          </a:xfrm>
          <a:prstGeom prst="rect">
            <a:avLst/>
          </a:prstGeom>
          <a:solidFill>
            <a:srgbClr val="EEF7F7"/>
          </a:solidFill>
          <a:ln w="12700" cap="flat" cmpd="sng">
            <a:solidFill>
              <a:srgbClr val="D0E4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7205472" y="1828800"/>
            <a:ext cx="177393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✔✔  8.09% = réel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228600" y="2340864"/>
            <a:ext cx="2468880" cy="4937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0E4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301752" y="2340864"/>
            <a:ext cx="232257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F61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05F61"/>
                </a:solidFill>
                <a:latin typeface="Calibri"/>
                <a:ea typeface="Calibri"/>
                <a:cs typeface="Calibri"/>
                <a:sym typeface="Calibri"/>
              </a:rPr>
              <a:t>Stabilité entraînement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2743200" y="2340864"/>
            <a:ext cx="2148840" cy="4937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0E4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2816352" y="2340864"/>
            <a:ext cx="200253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⚠  Instable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4937760" y="2340864"/>
            <a:ext cx="2148840" cy="4937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0E4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5010912" y="2340864"/>
            <a:ext cx="200253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✔  Stable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7132320" y="2340864"/>
            <a:ext cx="1920240" cy="4937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0E4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7205472" y="2340864"/>
            <a:ext cx="177393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✔  Très stable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228600" y="2852928"/>
            <a:ext cx="2468880" cy="493776"/>
          </a:xfrm>
          <a:prstGeom prst="rect">
            <a:avLst/>
          </a:prstGeom>
          <a:solidFill>
            <a:srgbClr val="EEF7F7"/>
          </a:solidFill>
          <a:ln w="12700" cap="flat" cmpd="sng">
            <a:solidFill>
              <a:srgbClr val="D0E4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301752" y="2852928"/>
            <a:ext cx="232257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F61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05F61"/>
                </a:solidFill>
                <a:latin typeface="Calibri"/>
                <a:ea typeface="Calibri"/>
                <a:cs typeface="Calibri"/>
                <a:sym typeface="Calibri"/>
              </a:rPr>
              <a:t>Transparence / Audit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2743200" y="2852928"/>
            <a:ext cx="2148840" cy="493776"/>
          </a:xfrm>
          <a:prstGeom prst="rect">
            <a:avLst/>
          </a:prstGeom>
          <a:solidFill>
            <a:srgbClr val="EEF7F7"/>
          </a:solidFill>
          <a:ln w="12700" cap="flat" cmpd="sng">
            <a:solidFill>
              <a:srgbClr val="D0E4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2816352" y="2852928"/>
            <a:ext cx="200253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✖  Boîte noire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4937760" y="2852928"/>
            <a:ext cx="2148840" cy="493776"/>
          </a:xfrm>
          <a:prstGeom prst="rect">
            <a:avLst/>
          </a:prstGeom>
          <a:solidFill>
            <a:srgbClr val="EEF7F7"/>
          </a:solidFill>
          <a:ln w="12700" cap="flat" cmpd="sng">
            <a:solidFill>
              <a:srgbClr val="D0E4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5010912" y="2852928"/>
            <a:ext cx="200253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✖  Boîte noire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7132320" y="2852928"/>
            <a:ext cx="1920240" cy="493776"/>
          </a:xfrm>
          <a:prstGeom prst="rect">
            <a:avLst/>
          </a:prstGeom>
          <a:solidFill>
            <a:srgbClr val="EEF7F7"/>
          </a:solidFill>
          <a:ln w="12700" cap="flat" cmpd="sng">
            <a:solidFill>
              <a:srgbClr val="D0E4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7205472" y="2852928"/>
            <a:ext cx="177393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✔✔  Lisible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228600" y="3364992"/>
            <a:ext cx="2468880" cy="4937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0E4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301752" y="3364992"/>
            <a:ext cx="232257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F61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05F61"/>
                </a:solidFill>
                <a:latin typeface="Calibri"/>
                <a:ea typeface="Calibri"/>
                <a:cs typeface="Calibri"/>
                <a:sym typeface="Calibri"/>
              </a:rPr>
              <a:t>Scalabilité (122 vars.)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2743200" y="3364992"/>
            <a:ext cx="2148840" cy="4937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0E4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2816352" y="3364992"/>
            <a:ext cx="200253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✔  OK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937760" y="3364992"/>
            <a:ext cx="2148840" cy="4937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0E4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5010912" y="3364992"/>
            <a:ext cx="200253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✔  OK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7132320" y="3364992"/>
            <a:ext cx="1920240" cy="49377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0E4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7205472" y="3364992"/>
            <a:ext cx="177393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⚠  Manuel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228600" y="3877056"/>
            <a:ext cx="2468880" cy="493776"/>
          </a:xfrm>
          <a:prstGeom prst="rect">
            <a:avLst/>
          </a:prstGeom>
          <a:solidFill>
            <a:srgbClr val="FFF8E8"/>
          </a:solidFill>
          <a:ln w="12700" cap="flat" cmpd="sng">
            <a:solidFill>
              <a:srgbClr val="D0E4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301752" y="3877056"/>
            <a:ext cx="232257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Piste d'amélioration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2743200" y="3877056"/>
            <a:ext cx="2148840" cy="493776"/>
          </a:xfrm>
          <a:prstGeom prst="rect">
            <a:avLst/>
          </a:prstGeom>
          <a:solidFill>
            <a:srgbClr val="FFF8E8"/>
          </a:solidFill>
          <a:ln w="12700" cap="flat" cmpd="sng">
            <a:solidFill>
              <a:srgbClr val="D0E4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2816352" y="3877056"/>
            <a:ext cx="200253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Contraindre la cible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4937760" y="3877056"/>
            <a:ext cx="2148840" cy="493776"/>
          </a:xfrm>
          <a:prstGeom prst="rect">
            <a:avLst/>
          </a:prstGeom>
          <a:solidFill>
            <a:srgbClr val="FFF8E8"/>
          </a:solidFill>
          <a:ln w="12700" cap="flat" cmpd="sng">
            <a:solidFill>
              <a:srgbClr val="D0E4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5010912" y="3877056"/>
            <a:ext cx="200253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Sur-représenter défauts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7132320" y="3877056"/>
            <a:ext cx="1920240" cy="493776"/>
          </a:xfrm>
          <a:prstGeom prst="rect">
            <a:avLst/>
          </a:prstGeom>
          <a:solidFill>
            <a:srgbClr val="FFF8E8"/>
          </a:solidFill>
          <a:ln w="12700" cap="flat" cmpd="sng">
            <a:solidFill>
              <a:srgbClr val="D0E4E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7205472" y="3877056"/>
            <a:ext cx="177393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Automatiser le graphe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A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5F61"/>
          </a:solidFill>
          <a:ln w="12700" cap="flat" cmpd="sng">
            <a:solidFill>
              <a:srgbClr val="005F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Anonymiser — La confidentialité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365760" y="68580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7878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5F7878"/>
                </a:solidFill>
                <a:latin typeface="Calibri"/>
                <a:ea typeface="Calibri"/>
                <a:cs typeface="Calibri"/>
                <a:sym typeface="Calibri"/>
              </a:rPr>
              <a:t>Une obligation légale et éthique dans le secteur bancaire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5F61"/>
          </a:solidFill>
          <a:ln w="12700" cap="flat" cmpd="sng">
            <a:solidFill>
              <a:srgbClr val="005F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274320" y="48737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D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8D8D8"/>
                </a:solidFill>
                <a:latin typeface="Calibri"/>
                <a:ea typeface="Calibri"/>
                <a:cs typeface="Calibri"/>
                <a:sym typeface="Calibri"/>
              </a:rPr>
              <a:t>Données Synthétiques &amp; Scoring Crédit — Stage 2025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8321040" y="487375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8D8D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8D8D8"/>
                </a:solidFill>
                <a:latin typeface="Calibri"/>
                <a:ea typeface="Calibri"/>
                <a:cs typeface="Calibri"/>
                <a:sym typeface="Calibri"/>
              </a:rPr>
              <a:t>7 / 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274320" y="914400"/>
            <a:ext cx="8595360" cy="658368"/>
          </a:xfrm>
          <a:prstGeom prst="rect">
            <a:avLst/>
          </a:prstGeom>
          <a:solidFill>
            <a:srgbClr val="FFFBF0"/>
          </a:solidFill>
          <a:ln w="12700" cap="flat" cmpd="sng">
            <a:solidFill>
              <a:srgbClr val="E8EE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274320" y="914400"/>
            <a:ext cx="64008" cy="658368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411480" y="914400"/>
            <a:ext cx="83210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⚖  RGPD · IA Act · Secret bancaire → toute donnée de crédit est une donnée personnelle sensible, même artificielle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274320" y="1719072"/>
            <a:ext cx="2743200" cy="29077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E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274320" y="1719072"/>
            <a:ext cx="2743200" cy="438912"/>
          </a:xfrm>
          <a:prstGeom prst="rect">
            <a:avLst/>
          </a:prstGeom>
          <a:solidFill>
            <a:srgbClr val="007A7C"/>
          </a:solidFill>
          <a:ln w="12700" cap="flat" cmpd="sng">
            <a:solidFill>
              <a:srgbClr val="007A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274320" y="1719072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k-anonymat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384048" y="2212848"/>
            <a:ext cx="2523744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Chaque individu est indiscernable d'au moins k−1 autres sur ses caractéristiques identifiantes (âge, situation familiale…).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365760" y="3611880"/>
            <a:ext cx="2514600" cy="45720"/>
          </a:xfrm>
          <a:prstGeom prst="rect">
            <a:avLst/>
          </a:prstGeom>
          <a:solidFill>
            <a:srgbClr val="007A7C">
              <a:alpha val="50196"/>
            </a:srgbClr>
          </a:solidFill>
          <a:ln w="12700" cap="flat" cmpd="sng">
            <a:solidFill>
              <a:srgbClr val="007A7C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384048" y="3703320"/>
            <a:ext cx="2523744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7878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5F7878"/>
                </a:solidFill>
                <a:latin typeface="Calibri"/>
                <a:ea typeface="Calibri"/>
                <a:cs typeface="Calibri"/>
                <a:sym typeface="Calibri"/>
              </a:rPr>
              <a:t>→ Cacher quelqu'un dans une foule d'au moins k personnes similaires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3154680" y="1719072"/>
            <a:ext cx="2743200" cy="29077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E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3154680" y="1719072"/>
            <a:ext cx="2743200" cy="438912"/>
          </a:xfrm>
          <a:prstGeom prst="rect">
            <a:avLst/>
          </a:prstGeom>
          <a:solidFill>
            <a:srgbClr val="009EA0"/>
          </a:solidFill>
          <a:ln w="12700" cap="flat" cmpd="sng">
            <a:solidFill>
              <a:srgbClr val="009E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3154680" y="1719072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ℓ-diversité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3264408" y="2212848"/>
            <a:ext cx="2523744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Au sein de chaque groupe, la variable sensible (défaut) doit être suffisamment variée — protège contre les attaques par inférence.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3246120" y="3611880"/>
            <a:ext cx="2514600" cy="45720"/>
          </a:xfrm>
          <a:prstGeom prst="rect">
            <a:avLst/>
          </a:prstGeom>
          <a:solidFill>
            <a:srgbClr val="009EA0">
              <a:alpha val="50196"/>
            </a:srgbClr>
          </a:solidFill>
          <a:ln w="12700" cap="flat" cmpd="sng">
            <a:solidFill>
              <a:srgbClr val="009EA0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3264408" y="3703320"/>
            <a:ext cx="2523744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7878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5F7878"/>
                </a:solidFill>
                <a:latin typeface="Calibri"/>
                <a:ea typeface="Calibri"/>
                <a:cs typeface="Calibri"/>
                <a:sym typeface="Calibri"/>
              </a:rPr>
              <a:t>→ Éviter que 5 personnes similaires soient toutes en défaut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6035040" y="1719072"/>
            <a:ext cx="2743200" cy="29077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E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6035040" y="1719072"/>
            <a:ext cx="2743200" cy="438912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6035040" y="1719072"/>
            <a:ext cx="27432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Differential Privacy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6144768" y="2212848"/>
            <a:ext cx="2523744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On injecte du bruit calibré. La présence ou l'absence d'un individu ne change pas significativement ce qu'on peut apprendre.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6126480" y="3611880"/>
            <a:ext cx="2514600" cy="45720"/>
          </a:xfrm>
          <a:prstGeom prst="rect">
            <a:avLst/>
          </a:prstGeom>
          <a:solidFill>
            <a:srgbClr val="F0A500">
              <a:alpha val="50196"/>
            </a:srgbClr>
          </a:solidFill>
          <a:ln w="12700" cap="flat" cmpd="sng">
            <a:solidFill>
              <a:srgbClr val="F0A500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6144768" y="3703320"/>
            <a:ext cx="2523744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7878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5F7878"/>
                </a:solidFill>
                <a:latin typeface="Calibri"/>
                <a:ea typeface="Calibri"/>
                <a:cs typeface="Calibri"/>
                <a:sym typeface="Calibri"/>
              </a:rPr>
              <a:t>→ Chaque donnée est bruitée, mais la statistique globale reste juste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274320" y="4690872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5F61"/>
              </a:buClr>
              <a:buSzPts val="1050"/>
              <a:buFont typeface="Calibri"/>
              <a:buNone/>
            </a:pPr>
            <a:r>
              <a:rPr lang="en-US" sz="1050" b="1" i="1" u="none" strike="noStrike" cap="none">
                <a:solidFill>
                  <a:srgbClr val="005F61"/>
                </a:solidFill>
                <a:latin typeface="Calibri"/>
                <a:ea typeface="Calibri"/>
                <a:cs typeface="Calibri"/>
                <a:sym typeface="Calibri"/>
              </a:rPr>
              <a:t>Plus on protège, plus on dégrade l'utilité — c'est un arbitrage à mesurer, pas un problème à résoudre.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A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5F61"/>
          </a:solidFill>
          <a:ln w="12700" cap="flat" cmpd="sng">
            <a:solidFill>
              <a:srgbClr val="005F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Évaluer — Ressemblance &amp; Utilité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365760" y="68580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7878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5F7878"/>
                </a:solidFill>
                <a:latin typeface="Calibri"/>
                <a:ea typeface="Calibri"/>
                <a:cs typeface="Calibri"/>
                <a:sym typeface="Calibri"/>
              </a:rPr>
              <a:t>Base synthétique brute → puis après anonymisation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5F61"/>
          </a:solidFill>
          <a:ln w="12700" cap="flat" cmpd="sng">
            <a:solidFill>
              <a:srgbClr val="005F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274320" y="48737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D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8D8D8"/>
                </a:solidFill>
                <a:latin typeface="Calibri"/>
                <a:ea typeface="Calibri"/>
                <a:cs typeface="Calibri"/>
                <a:sym typeface="Calibri"/>
              </a:rPr>
              <a:t>Données Synthétiques &amp; Scoring Crédit — Stage 2025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8321040" y="487375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8D8D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8D8D8"/>
                </a:solidFill>
                <a:latin typeface="Calibri"/>
                <a:ea typeface="Calibri"/>
                <a:cs typeface="Calibri"/>
                <a:sym typeface="Calibri"/>
              </a:rPr>
              <a:t>8 / 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274320" y="960120"/>
            <a:ext cx="8595360" cy="594360"/>
          </a:xfrm>
          <a:prstGeom prst="rect">
            <a:avLst/>
          </a:prstGeom>
          <a:solidFill>
            <a:srgbClr val="E0F4F4"/>
          </a:solidFill>
          <a:ln w="12700" cap="flat" cmpd="sng">
            <a:solidFill>
              <a:srgbClr val="E8EE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274320" y="960120"/>
            <a:ext cx="64008" cy="594360"/>
          </a:xfrm>
          <a:prstGeom prst="rect">
            <a:avLst/>
          </a:prstGeom>
          <a:solidFill>
            <a:srgbClr val="009EA0"/>
          </a:solidFill>
          <a:ln w="12700" cap="flat" cmpd="sng">
            <a:solidFill>
              <a:srgbClr val="009E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411480" y="987552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L'évaluation se fait en deux temps : avant anonymisation pour mesurer ce que la génération a préservé, puis après pour mesurer ce que la protection a dégradé.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274320" y="1719072"/>
            <a:ext cx="8595360" cy="8412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E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274320" y="1719072"/>
            <a:ext cx="64008" cy="841248"/>
          </a:xfrm>
          <a:prstGeom prst="rect">
            <a:avLst/>
          </a:prstGeom>
          <a:solidFill>
            <a:srgbClr val="007A7C"/>
          </a:solidFill>
          <a:ln w="12700" cap="flat" cmpd="sng">
            <a:solidFill>
              <a:srgbClr val="007A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393192" y="1847088"/>
            <a:ext cx="566928" cy="56692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7A7C"/>
          </a:solidFill>
          <a:ln w="12700" cap="flat" cmpd="sng">
            <a:solidFill>
              <a:srgbClr val="007A7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393192" y="184708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1097280" y="1764792"/>
            <a:ext cx="74066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F6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05F61"/>
                </a:solidFill>
                <a:latin typeface="Calibri"/>
                <a:ea typeface="Calibri"/>
                <a:cs typeface="Calibri"/>
                <a:sym typeface="Calibri"/>
              </a:rPr>
              <a:t>Taux de défaut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1097280" y="2103120"/>
            <a:ext cx="7406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7878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F7878"/>
                </a:solidFill>
                <a:latin typeface="Calibri"/>
                <a:ea typeface="Calibri"/>
                <a:cs typeface="Calibri"/>
                <a:sym typeface="Calibri"/>
              </a:rPr>
              <a:t>Le signal le plus direct. Si ce chiffre diverge entre réel et synthétique, tout le reste est fragilisé. C'est le premier indicateur à vérifier.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274320" y="2679192"/>
            <a:ext cx="8595360" cy="8412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E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274320" y="2679192"/>
            <a:ext cx="64008" cy="841248"/>
          </a:xfrm>
          <a:prstGeom prst="rect">
            <a:avLst/>
          </a:prstGeom>
          <a:solidFill>
            <a:srgbClr val="009EA0"/>
          </a:solidFill>
          <a:ln w="12700" cap="flat" cmpd="sng">
            <a:solidFill>
              <a:srgbClr val="009E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393192" y="2807208"/>
            <a:ext cx="566928" cy="56692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9EA0"/>
          </a:solidFill>
          <a:ln w="12700" cap="flat" cmpd="sng">
            <a:solidFill>
              <a:srgbClr val="009E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393192" y="280720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1097280" y="2724912"/>
            <a:ext cx="74066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F6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05F61"/>
                </a:solidFill>
                <a:latin typeface="Calibri"/>
                <a:ea typeface="Calibri"/>
                <a:cs typeface="Calibri"/>
                <a:sym typeface="Calibri"/>
              </a:rPr>
              <a:t>Corrélations entre variables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1097280" y="3063240"/>
            <a:ext cx="7406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7878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F7878"/>
                </a:solidFill>
                <a:latin typeface="Calibri"/>
                <a:ea typeface="Calibri"/>
                <a:cs typeface="Calibri"/>
                <a:sym typeface="Calibri"/>
              </a:rPr>
              <a:t>Une base peut avoir les bonnes distributions variable par variable, mais perdre la cohérence globale. La relation revenu ↔ crédit est-elle bien reproduite ?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274320" y="3639312"/>
            <a:ext cx="8595360" cy="84124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E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274320" y="3639312"/>
            <a:ext cx="64008" cy="841248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393192" y="3767328"/>
            <a:ext cx="566928" cy="56692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393192" y="376732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1097280" y="3685032"/>
            <a:ext cx="74066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F6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005F61"/>
                </a:solidFill>
                <a:latin typeface="Calibri"/>
                <a:ea typeface="Calibri"/>
                <a:cs typeface="Calibri"/>
                <a:sym typeface="Calibri"/>
              </a:rPr>
              <a:t>TSTR · TRTR · TRTS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1097280" y="4023360"/>
            <a:ext cx="74066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F7878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F7878"/>
                </a:solidFill>
                <a:latin typeface="Calibri"/>
                <a:ea typeface="Calibri"/>
                <a:cs typeface="Calibri"/>
                <a:sym typeface="Calibri"/>
              </a:rPr>
              <a:t>Le test ultime : un modèle entraîné sur synthétique se comporte-t-il comme un modèle entraîné sur du réel ? C'est la mesure de l'utilité prédictive.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A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5F61"/>
          </a:solidFill>
          <a:ln w="12700" cap="flat" cmpd="sng">
            <a:solidFill>
              <a:srgbClr val="005F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Bilan actuel — Où on en est et ce qui vient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5F61"/>
          </a:solidFill>
          <a:ln w="12700" cap="flat" cmpd="sng">
            <a:solidFill>
              <a:srgbClr val="005F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274320" y="48737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D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8D8D8"/>
                </a:solidFill>
                <a:latin typeface="Calibri"/>
                <a:ea typeface="Calibri"/>
                <a:cs typeface="Calibri"/>
                <a:sym typeface="Calibri"/>
              </a:rPr>
              <a:t>Données Synthétiques &amp; Scoring Crédit — Stage 2025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8321040" y="487375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8D8D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8D8D8"/>
                </a:solidFill>
                <a:latin typeface="Calibri"/>
                <a:ea typeface="Calibri"/>
                <a:cs typeface="Calibri"/>
                <a:sym typeface="Calibri"/>
              </a:rPr>
              <a:t>9 / 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274320" y="960120"/>
            <a:ext cx="8595360" cy="7498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E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274320" y="960120"/>
            <a:ext cx="64008" cy="749808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274320" y="960120"/>
            <a:ext cx="1463040" cy="749808"/>
          </a:xfrm>
          <a:prstGeom prst="rect">
            <a:avLst/>
          </a:prstGeom>
          <a:solidFill>
            <a:srgbClr val="F0A500">
              <a:alpha val="85098"/>
            </a:srgbClr>
          </a:solidFill>
          <a:ln w="12700" cap="flat" cmpd="sng">
            <a:solidFill>
              <a:srgbClr val="F0A500">
                <a:alpha val="8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274320" y="960120"/>
            <a:ext cx="14630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CTGAN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274320" y="1362456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À ajuster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1874520" y="1051560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Contraindre explicitement le taux de défaut attendu — option disponible, pas encore utilisée.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274320" y="1828800"/>
            <a:ext cx="8595360" cy="7498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E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274320" y="1828800"/>
            <a:ext cx="64008" cy="749808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274320" y="1828800"/>
            <a:ext cx="1463040" cy="749808"/>
          </a:xfrm>
          <a:prstGeom prst="rect">
            <a:avLst/>
          </a:prstGeom>
          <a:solidFill>
            <a:srgbClr val="F0A500">
              <a:alpha val="85098"/>
            </a:srgbClr>
          </a:solidFill>
          <a:ln w="12700" cap="flat" cmpd="sng">
            <a:solidFill>
              <a:srgbClr val="F0A500">
                <a:alpha val="8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274320" y="1828800"/>
            <a:ext cx="14630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TVAE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274320" y="2231136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À ajuster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1874520" y="1920240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Sur-représenter les défauts pendant l'entraînement pour que le modèle cesse de les oublier.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274320" y="2697480"/>
            <a:ext cx="8595360" cy="749808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8EE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274320" y="2697480"/>
            <a:ext cx="64008" cy="749808"/>
          </a:xfrm>
          <a:prstGeom prst="rect">
            <a:avLst/>
          </a:prstGeom>
          <a:solidFill>
            <a:srgbClr val="27AE60"/>
          </a:solidFill>
          <a:ln w="127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274320" y="2697480"/>
            <a:ext cx="1463040" cy="749808"/>
          </a:xfrm>
          <a:prstGeom prst="rect">
            <a:avLst/>
          </a:prstGeom>
          <a:solidFill>
            <a:srgbClr val="27AE60">
              <a:alpha val="85098"/>
            </a:srgbClr>
          </a:solidFill>
          <a:ln w="12700" cap="flat" cmpd="sng">
            <a:solidFill>
              <a:srgbClr val="27AE60">
                <a:alpha val="85098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274320" y="2697480"/>
            <a:ext cx="14630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Bayésien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274320" y="3099816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Résultats solides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1874520" y="2788920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Automatiser la construction du graphe pour le rendre scalable sur 122 variables.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274320" y="3611880"/>
            <a:ext cx="8595360" cy="987552"/>
          </a:xfrm>
          <a:prstGeom prst="rect">
            <a:avLst/>
          </a:prstGeom>
          <a:solidFill>
            <a:srgbClr val="EEF7F7"/>
          </a:solidFill>
          <a:ln w="12700" cap="flat" cmpd="sng">
            <a:solidFill>
              <a:srgbClr val="E8EEEE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274320" y="3611880"/>
            <a:ext cx="64008" cy="987552"/>
          </a:xfrm>
          <a:prstGeom prst="rect">
            <a:avLst/>
          </a:prstGeom>
          <a:solidFill>
            <a:srgbClr val="005F61"/>
          </a:solidFill>
          <a:ln w="12700" cap="flat" cmpd="sng">
            <a:solidFill>
              <a:srgbClr val="005F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1"/>
          <p:cNvSpPr/>
          <p:nvPr/>
        </p:nvSpPr>
        <p:spPr>
          <a:xfrm>
            <a:off x="411480" y="363931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5F61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005F61"/>
                </a:solidFill>
                <a:latin typeface="Calibri"/>
                <a:ea typeface="Calibri"/>
                <a:cs typeface="Calibri"/>
                <a:sym typeface="Calibri"/>
              </a:rPr>
              <a:t>Ce qui vient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411480" y="395020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A2E2E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>
                <a:solidFill>
                  <a:srgbClr val="1A2E2E"/>
                </a:solidFill>
                <a:latin typeface="Calibri"/>
                <a:ea typeface="Calibri"/>
                <a:cs typeface="Calibri"/>
                <a:sym typeface="Calibri"/>
              </a:rPr>
              <a:t>Trouver les bonnes métriques de ressemblance — définir ce que "ressembler" signifie vraiment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005F61"/>
              </a:buClr>
              <a:buSzPts val="1150"/>
              <a:buFont typeface="Calibri"/>
              <a:buChar char="•"/>
            </a:pPr>
            <a:r>
              <a:rPr lang="en-US" sz="1150" b="1" i="0" u="none" strike="noStrike" cap="none">
                <a:solidFill>
                  <a:srgbClr val="005F61"/>
                </a:solidFill>
                <a:latin typeface="Calibri"/>
                <a:ea typeface="Calibri"/>
                <a:cs typeface="Calibri"/>
                <a:sym typeface="Calibri"/>
              </a:rPr>
              <a:t>Calculer, comparer et expliquer les métriques de scoring — variable par variable — méthode XPER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F61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5F61"/>
          </a:solidFill>
          <a:ln w="12700" cap="flat" cmpd="sng">
            <a:solidFill>
              <a:srgbClr val="005F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274320" y="48737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D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8D8D8"/>
                </a:solidFill>
                <a:latin typeface="Calibri"/>
                <a:ea typeface="Calibri"/>
                <a:cs typeface="Calibri"/>
                <a:sym typeface="Calibri"/>
              </a:rPr>
              <a:t>Données Synthétiques &amp; Scoring Crédit — Stage 2025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8321040" y="487375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8D8D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8D8D8"/>
                </a:solidFill>
                <a:latin typeface="Calibri"/>
                <a:ea typeface="Calibri"/>
                <a:cs typeface="Calibri"/>
                <a:sym typeface="Calibri"/>
              </a:rPr>
              <a:t>10 / 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457200" y="32004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D8D8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A8D8D8"/>
                </a:solidFill>
                <a:latin typeface="Calibri"/>
                <a:ea typeface="Calibri"/>
                <a:cs typeface="Calibri"/>
                <a:sym typeface="Calibri"/>
              </a:rPr>
              <a:t>Et maintenant 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457200" y="868680"/>
            <a:ext cx="8229600" cy="1737360"/>
          </a:xfrm>
          <a:prstGeom prst="rect">
            <a:avLst/>
          </a:prstGeom>
          <a:solidFill>
            <a:srgbClr val="005254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640080" y="914400"/>
            <a:ext cx="786384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 a une AUC. On a un Gini. Mais que nous disent vraiment ces chiffres ?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Quelle variable porte la performance ? Qu'est-ce qu'on a perdu en anonymisant ?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914400" y="2834640"/>
            <a:ext cx="3200400" cy="1737360"/>
          </a:xfrm>
          <a:prstGeom prst="rect">
            <a:avLst/>
          </a:prstGeom>
          <a:solidFill>
            <a:srgbClr val="009EA0">
              <a:alpha val="85098"/>
            </a:srgbClr>
          </a:solidFill>
          <a:ln w="12700" cap="flat" cmpd="sng">
            <a:solidFill>
              <a:srgbClr val="009E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2"/>
          <p:cNvSpPr/>
          <p:nvPr/>
        </p:nvSpPr>
        <p:spPr>
          <a:xfrm>
            <a:off x="914400" y="2834640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Objectif 2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1051560" y="3337560"/>
            <a:ext cx="29260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0EEE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D0EEEE"/>
                </a:solidFill>
                <a:latin typeface="Calibri"/>
                <a:ea typeface="Calibri"/>
                <a:cs typeface="Calibri"/>
                <a:sym typeface="Calibri"/>
              </a:rPr>
              <a:t>Calculer AUC, Gini,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0EEE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D0EEEE"/>
                </a:solidFill>
                <a:latin typeface="Calibri"/>
                <a:ea typeface="Calibri"/>
                <a:cs typeface="Calibri"/>
                <a:sym typeface="Calibri"/>
              </a:rPr>
              <a:t>courbes ROC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0EEE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D0EEEE"/>
                </a:solidFill>
                <a:latin typeface="Calibri"/>
                <a:ea typeface="Calibri"/>
                <a:cs typeface="Calibri"/>
                <a:sym typeface="Calibri"/>
              </a:rPr>
              <a:t>synth. vs réel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4206240" y="342900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5029200" y="2834640"/>
            <a:ext cx="3200400" cy="1737360"/>
          </a:xfrm>
          <a:prstGeom prst="rect">
            <a:avLst/>
          </a:prstGeom>
          <a:solidFill>
            <a:srgbClr val="F0A500">
              <a:alpha val="85098"/>
            </a:srgbClr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2"/>
          <p:cNvSpPr/>
          <p:nvPr/>
        </p:nvSpPr>
        <p:spPr>
          <a:xfrm>
            <a:off x="5029200" y="2834640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Objectif 3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5166360" y="3337560"/>
            <a:ext cx="292608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0EEE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D0EEEE"/>
                </a:solidFill>
                <a:latin typeface="Calibri"/>
                <a:ea typeface="Calibri"/>
                <a:cs typeface="Calibri"/>
                <a:sym typeface="Calibri"/>
              </a:rPr>
              <a:t>Décomposer variable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0EEE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D0EEEE"/>
                </a:solidFill>
                <a:latin typeface="Calibri"/>
                <a:ea typeface="Calibri"/>
                <a:cs typeface="Calibri"/>
                <a:sym typeface="Calibri"/>
              </a:rPr>
              <a:t>par variable — XPER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D0EEEE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D0EEEE"/>
                </a:solidFill>
                <a:latin typeface="Calibri"/>
                <a:ea typeface="Calibri"/>
                <a:cs typeface="Calibri"/>
                <a:sym typeface="Calibri"/>
              </a:rPr>
              <a:t>Pourquoi ce niveau ?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F61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5F61"/>
          </a:solidFill>
          <a:ln w="12700" cap="flat" cmpd="sng">
            <a:solidFill>
              <a:srgbClr val="005F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274320" y="48737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D8D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8D8D8"/>
                </a:solidFill>
                <a:latin typeface="Calibri"/>
                <a:ea typeface="Calibri"/>
                <a:cs typeface="Calibri"/>
                <a:sym typeface="Calibri"/>
              </a:rPr>
              <a:t>Données Synthétiques &amp; Scoring Crédit — Stage 2025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8321040" y="487375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A8D8D8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A8D8D8"/>
                </a:solidFill>
                <a:latin typeface="Calibri"/>
                <a:ea typeface="Calibri"/>
                <a:cs typeface="Calibri"/>
                <a:sym typeface="Calibri"/>
              </a:rPr>
              <a:t>11 / 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 cap="flat" cmpd="sng">
            <a:solidFill>
              <a:srgbClr val="F0A5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365760" y="274320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D8D8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A8D8D8"/>
                </a:solidFill>
                <a:latin typeface="Calibri"/>
                <a:ea typeface="Calibri"/>
                <a:cs typeface="Calibri"/>
                <a:sym typeface="Calibri"/>
              </a:rPr>
              <a:t>En résumé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365760" y="914400"/>
            <a:ext cx="8412480" cy="621792"/>
          </a:xfrm>
          <a:prstGeom prst="rect">
            <a:avLst/>
          </a:prstGeom>
          <a:solidFill>
            <a:srgbClr val="005254">
              <a:alpha val="90196"/>
            </a:srgbClr>
          </a:solidFill>
          <a:ln w="12700" cap="flat" cmpd="sng">
            <a:solidFill>
              <a:srgbClr val="009E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502920" y="914400"/>
            <a:ext cx="813816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🔷  Une problématique centrale : comprendre ce que les métriques de scoring révèlent vraiment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365760" y="1664208"/>
            <a:ext cx="8412480" cy="621792"/>
          </a:xfrm>
          <a:prstGeom prst="rect">
            <a:avLst/>
          </a:prstGeom>
          <a:solidFill>
            <a:srgbClr val="005254">
              <a:alpha val="90196"/>
            </a:srgbClr>
          </a:solidFill>
          <a:ln w="12700" cap="flat" cmpd="sng">
            <a:solidFill>
              <a:srgbClr val="009E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502920" y="1664208"/>
            <a:ext cx="813816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🔷  3 modèles génératifs testés — chacun avec ses compromis, ses limites, ses pistes d'amélioration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365760" y="2414016"/>
            <a:ext cx="8412480" cy="621792"/>
          </a:xfrm>
          <a:prstGeom prst="rect">
            <a:avLst/>
          </a:prstGeom>
          <a:solidFill>
            <a:srgbClr val="005254">
              <a:alpha val="90196"/>
            </a:srgbClr>
          </a:solidFill>
          <a:ln w="12700" cap="flat" cmpd="sng">
            <a:solidFill>
              <a:srgbClr val="009E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3"/>
          <p:cNvSpPr/>
          <p:nvPr/>
        </p:nvSpPr>
        <p:spPr>
          <a:xfrm>
            <a:off x="502920" y="2414016"/>
            <a:ext cx="813816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🔷  La confidentialité intégrée dès la conception — RGPD, IA Act, secret bancaire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365760" y="3163824"/>
            <a:ext cx="8412480" cy="621792"/>
          </a:xfrm>
          <a:prstGeom prst="rect">
            <a:avLst/>
          </a:prstGeom>
          <a:solidFill>
            <a:srgbClr val="005254">
              <a:alpha val="90196"/>
            </a:srgbClr>
          </a:solidFill>
          <a:ln w="12700" cap="flat" cmpd="sng">
            <a:solidFill>
              <a:srgbClr val="009E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502920" y="3163824"/>
            <a:ext cx="813816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🔷  Un cadre d'évaluation rigoureux : taux de défaut, corrélations, TSTR / TRTR / TRTS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365760" y="3913632"/>
            <a:ext cx="8412480" cy="621792"/>
          </a:xfrm>
          <a:prstGeom prst="rect">
            <a:avLst/>
          </a:prstGeom>
          <a:solidFill>
            <a:srgbClr val="005254">
              <a:alpha val="90196"/>
            </a:srgbClr>
          </a:solidFill>
          <a:ln w="12700" cap="flat" cmpd="sng">
            <a:solidFill>
              <a:srgbClr val="009E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3"/>
          <p:cNvSpPr/>
          <p:nvPr/>
        </p:nvSpPr>
        <p:spPr>
          <a:xfrm>
            <a:off x="502920" y="3913632"/>
            <a:ext cx="813816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🔷  L'objectif final : expliquer variable par variable ce qu'un modèle a capturé — et ce qu'il a perdu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0A500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Merci — Questions ?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1139</Words>
  <Application>Microsoft Office PowerPoint</Application>
  <PresentationFormat>Affichage à l'écran (16:9)</PresentationFormat>
  <Paragraphs>169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Laura Hani</dc:creator>
  <cp:lastModifiedBy>Laura Hani</cp:lastModifiedBy>
  <cp:revision>1</cp:revision>
  <dcterms:modified xsi:type="dcterms:W3CDTF">2026-03-29T21:44:05Z</dcterms:modified>
</cp:coreProperties>
</file>